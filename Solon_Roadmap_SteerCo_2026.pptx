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6.xml" ContentType="application/vnd.openxmlformats-officedocument.drawingml.chart+xml"/>
  <Override PartName="/ppt/charts/chart7.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Status</c:v>
                </c:pt>
              </c:strCache>
            </c:strRef>
          </c:tx>
          <c:spPr>
            <a:solidFill>
              <a:schemeClr val="accent1"/>
            </a:solidFill>
            <a:ln w="9525" cap="flat">
              <a:solidFill>
                <a:srgbClr val="F9F9F9"/>
              </a:solidFill>
              <a:prstDash val="solid"/>
              <a:round/>
            </a:ln>
            <a:effectLst/>
          </c:spPr>
          <c:dPt>
            <c:idx val="0"/>
            <c:bubble3D val="0"/>
            <c:spPr>
              <a:solidFill>
                <a:srgbClr val="FF6359"/>
              </a:solidFill>
              <a:effectLst/>
            </c:spPr>
          </c:dPt>
          <c:dPt>
            <c:idx val="1"/>
            <c:bubble3D val="0"/>
            <c:spPr>
              <a:solidFill>
                <a:srgbClr val="FFD282"/>
              </a:solidFill>
              <a:effectLst/>
            </c:spPr>
          </c:dPt>
          <c:dPt>
            <c:idx val="2"/>
            <c:bubble3D val="0"/>
            <c:spPr>
              <a:solidFill>
                <a:srgbClr val="73AA87"/>
              </a:solidFill>
              <a:effectLst/>
            </c:spPr>
          </c:dPt>
          <c:dLbls>
            <c:dLbl>
              <c:idx val="0"/>
              <c:numFmt formatCode="0%" sourceLinked="0"/>
              <c:spPr/>
              <c:txPr>
                <a:bodyPr/>
                <a:lstStyle/>
                <a:p>
                  <a:pPr>
                    <a:defRPr sz="1200" b="0" i="0" u="none" strike="noStrike">
                      <a:solidFill>
                        <a:srgbClr val="000000"/>
                      </a:solidFill>
                      <a:latin typeface="Arial"/>
                    </a:defRPr>
                  </a:pPr>
                </a:p>
              </c:txPr>
              <c:showLegendKey val="0"/>
              <c:showVal val="0"/>
              <c:showCatName val="0"/>
              <c:showSerName val="0"/>
              <c:showPercent val="1"/>
              <c:showBubbleSize val="0"/>
            </c:dLbl>
            <c:dLbl>
              <c:idx val="1"/>
              <c:numFmt formatCode="0%" sourceLinked="0"/>
              <c:spPr/>
              <c:txPr>
                <a:bodyPr/>
                <a:lstStyle/>
                <a:p>
                  <a:pPr>
                    <a:defRPr sz="1200" b="0" i="0" u="none" strike="noStrike">
                      <a:solidFill>
                        <a:srgbClr val="000000"/>
                      </a:solidFill>
                      <a:latin typeface="Arial"/>
                    </a:defRPr>
                  </a:pPr>
                </a:p>
              </c:txPr>
              <c:showLegendKey val="0"/>
              <c:showVal val="0"/>
              <c:showCatName val="0"/>
              <c:showSerName val="0"/>
              <c:showPercent val="1"/>
              <c:showBubbleSize val="0"/>
            </c:dLbl>
            <c:dLbl>
              <c:idx val="2"/>
              <c:numFmt formatCode="0%" sourceLinked="0"/>
              <c:spPr/>
              <c:txPr>
                <a:bodyPr/>
                <a:lstStyle/>
                <a:p>
                  <a:pPr>
                    <a:defRPr sz="1200" b="0" i="0" u="none" strike="noStrike">
                      <a:solidFill>
                        <a:srgbClr val="000000"/>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To Do</c:v>
                </c:pt>
                <c:pt idx="1">
                  <c:v>In Progress</c:v>
                </c:pt>
                <c:pt idx="2">
                  <c:v>Done</c:v>
                </c:pt>
              </c:strCache>
            </c:strRef>
          </c:cat>
          <c:val>
            <c:numRef>
              <c:f>Sheet1!$B$2:$B$4</c:f>
              <c:numCache>
                <c:ptCount val="3"/>
                <c:pt idx="0">
                  <c:v>85</c:v>
                </c:pt>
                <c:pt idx="1">
                  <c:v>10</c:v>
                </c:pt>
                <c:pt idx="2">
                  <c:v>5</c:v>
                </c:pt>
              </c:numCache>
            </c:numRef>
          </c:val>
        </c:ser>
        <c:firstSliceAng val="0"/>
        <c:holeSize val="55"/>
      </c:doughnutChart>
      <c:spPr>
        <a:noFill/>
        <a:ln>
          <a:noFill/>
        </a:ln>
        <a:effectLst/>
      </c:spPr>
    </c:plotArea>
    <c:legend>
      <c:legendPos val="b"/>
      <c:overlay val="0"/>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Hours</c:v>
                </c:pt>
              </c:strCache>
            </c:strRef>
          </c:tx>
          <c:spPr>
            <a:solidFill>
              <a:srgbClr val="1B5E52"/>
            </a:solidFill>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Party Identifiers</c:v>
                  </c:pt>
                  <c:pt idx="1">
                    <c:v>Org. Hierarchy View</c:v>
                  </c:pt>
                  <c:pt idx="2">
                    <c:v>Search Enhancements</c:v>
                  </c:pt>
                  <c:pt idx="3">
                    <c:v>Data Area Enhancements</c:v>
                  </c:pt>
                  <c:pt idx="4">
                    <c:v>Historical Data View</c:v>
                  </c:pt>
                  <c:pt idx="5">
                    <c:v>Additional Name Elems</c:v>
                  </c:pt>
                </c:lvl>
              </c:multiLvlStrCache>
            </c:multiLvlStrRef>
          </c:cat>
          <c:val>
            <c:numRef>
              <c:f>Sheet1!$B$2:$B$7</c:f>
              <c:numCache>
                <c:formatCode>General</c:formatCode>
                <c:ptCount val="6"/>
                <c:pt idx="0">
                  <c:v>3200</c:v>
                </c:pt>
                <c:pt idx="1">
                  <c:v>2800</c:v>
                </c:pt>
                <c:pt idx="2">
                  <c:v>2100</c:v>
                </c:pt>
                <c:pt idx="3">
                  <c:v>1900</c:v>
                </c:pt>
                <c:pt idx="4">
                  <c:v>1100</c:v>
                </c:pt>
                <c:pt idx="5">
                  <c:v>766</c:v>
                </c:pt>
              </c:numCache>
            </c:numRef>
          </c:val>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88888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Priority</c:v>
                </c:pt>
              </c:strCache>
            </c:strRef>
          </c:tx>
          <c:spPr>
            <a:solidFill>
              <a:schemeClr val="accent1"/>
            </a:solidFill>
            <a:ln w="9525" cap="flat">
              <a:solidFill>
                <a:srgbClr val="F9F9F9"/>
              </a:solidFill>
              <a:prstDash val="solid"/>
              <a:round/>
            </a:ln>
            <a:effectLst/>
          </c:spPr>
          <c:dPt>
            <c:idx val="0"/>
            <c:bubble3D val="0"/>
            <c:spPr>
              <a:solidFill>
                <a:srgbClr val="123836"/>
              </a:solidFill>
              <a:effectLst/>
            </c:spPr>
          </c:dPt>
          <c:dPt>
            <c:idx val="1"/>
            <c:bubble3D val="0"/>
            <c:spPr>
              <a:solidFill>
                <a:srgbClr val="1B5E52"/>
              </a:solidFill>
              <a:effectLst/>
            </c:spPr>
          </c:dPt>
          <c:dPt>
            <c:idx val="2"/>
            <c:bubble3D val="0"/>
            <c:spPr>
              <a:solidFill>
                <a:srgbClr val="73AA87"/>
              </a:solidFill>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P1 – Must Have</c:v>
                </c:pt>
                <c:pt idx="1">
                  <c:v>P2 – Should Have</c:v>
                </c:pt>
                <c:pt idx="2">
                  <c:v>P3 – Nice to Have</c:v>
                </c:pt>
              </c:strCache>
            </c:strRef>
          </c:cat>
          <c:val>
            <c:numRef>
              <c:f>Sheet1!$B$2:$B$4</c:f>
              <c:numCache>
                <c:ptCount val="3"/>
                <c:pt idx="0">
                  <c:v>70</c:v>
                </c:pt>
                <c:pt idx="1">
                  <c:v>20</c:v>
                </c:pt>
                <c:pt idx="2">
                  <c:v>10</c:v>
                </c:pt>
              </c:numCache>
            </c:numRef>
          </c:val>
        </c:ser>
        <c:firstSliceAng val="0"/>
        <c:holeSize val="55"/>
      </c:doughnutChart>
      <c:spPr>
        <a:noFill/>
        <a:ln>
          <a:noFill/>
        </a:ln>
        <a:effectLst/>
      </c:spPr>
    </c:plotArea>
    <c:legend>
      <c:legendPos val="r"/>
      <c:overlay val="0"/>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Hours</c:v>
                </c:pt>
              </c:strCache>
            </c:strRef>
          </c:tx>
          <c:spPr>
            <a:solidFill>
              <a:srgbClr val="1B5E52"/>
            </a:solidFill>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General Ledger Core</c:v>
                  </c:pt>
                  <c:pt idx="1">
                    <c:v>Transaction Processing</c:v>
                  </c:pt>
                  <c:pt idx="2">
                    <c:v>Account Reconciliation</c:v>
                  </c:pt>
                  <c:pt idx="3">
                    <c:v>Balance Management</c:v>
                  </c:pt>
                </c:lvl>
              </c:multiLvlStrCache>
            </c:multiLvlStrRef>
          </c:cat>
          <c:val>
            <c:numRef>
              <c:f>Sheet1!$B$2:$B$5</c:f>
              <c:numCache>
                <c:formatCode>General</c:formatCode>
                <c:ptCount val="4"/>
                <c:pt idx="0">
                  <c:v>2800</c:v>
                </c:pt>
                <c:pt idx="1">
                  <c:v>2400</c:v>
                </c:pt>
                <c:pt idx="2">
                  <c:v>1664</c:v>
                </c:pt>
                <c:pt idx="3">
                  <c:v>1200</c:v>
                </c:pt>
              </c:numCache>
            </c:numRef>
          </c:val>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88888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Priority</c:v>
                </c:pt>
              </c:strCache>
            </c:strRef>
          </c:tx>
          <c:spPr>
            <a:solidFill>
              <a:schemeClr val="accent1"/>
            </a:solidFill>
            <a:ln w="9525" cap="flat">
              <a:solidFill>
                <a:srgbClr val="F9F9F9"/>
              </a:solidFill>
              <a:prstDash val="solid"/>
              <a:round/>
            </a:ln>
            <a:effectLst/>
          </c:spPr>
          <c:dPt>
            <c:idx val="0"/>
            <c:bubble3D val="0"/>
            <c:spPr>
              <a:solidFill>
                <a:srgbClr val="123836"/>
              </a:solidFill>
              <a:effectLst/>
            </c:spPr>
          </c:dPt>
          <c:dPt>
            <c:idx val="1"/>
            <c:bubble3D val="0"/>
            <c:spPr>
              <a:solidFill>
                <a:srgbClr val="1B5E52"/>
              </a:solidFill>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P1 – Must Have</c:v>
                </c:pt>
                <c:pt idx="1">
                  <c:v>P2 – Should Have</c:v>
                </c:pt>
              </c:strCache>
            </c:strRef>
          </c:cat>
          <c:val>
            <c:numRef>
              <c:f>Sheet1!$B$2:$B$3</c:f>
              <c:numCache>
                <c:ptCount val="2"/>
                <c:pt idx="0">
                  <c:v>75</c:v>
                </c:pt>
                <c:pt idx="1">
                  <c:v>25</c:v>
                </c:pt>
              </c:numCache>
            </c:numRef>
          </c:val>
        </c:ser>
        <c:firstSliceAng val="0"/>
        <c:holeSize val="55"/>
      </c:doughnutChart>
      <c:spPr>
        <a:noFill/>
        <a:ln>
          <a:noFill/>
        </a:ln>
        <a:effectLst/>
      </c:spPr>
    </c:plotArea>
    <c:legend>
      <c:legendPos val="r"/>
      <c:overlay val="0"/>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Hours</c:v>
                </c:pt>
              </c:strCache>
            </c:strRef>
          </c:tx>
          <c:spPr>
            <a:solidFill>
              <a:srgbClr val="1B5E52"/>
            </a:solidFill>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cat>
            <c:multiLvlStrRef>
              <c:f>Sheet1!$A$2:$A$1</c:f>
              <c:multiLvlStrCache>
                <c:ptCount val="0"/>
                <c:lvl/>
              </c:multiLvlStrCache>
            </c:multiLvlStrRef>
          </c:cat>
          <c:val>
            <c:numRef>
              <c:f>Sheet1!$B$2:$B$1</c:f>
              <c:numCache>
                <c:formatCode>General</c:formatCode>
                <c:ptCount val="0"/>
              </c:numCache>
            </c:numRef>
          </c:val>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88888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Priority</c:v>
                </c:pt>
              </c:strCache>
            </c:strRef>
          </c:tx>
          <c:spPr>
            <a:solidFill>
              <a:schemeClr val="accent1"/>
            </a:solidFill>
            <a:ln w="9525" cap="flat">
              <a:solidFill>
                <a:srgbClr val="F9F9F9"/>
              </a:solidFill>
              <a:prstDash val="solid"/>
              <a:round/>
            </a:ln>
            <a:effectLst/>
          </c:spPr>
          <c:dPt>
            <c:idx val="0"/>
            <c:bubble3D val="0"/>
            <c:spPr>
              <a:solidFill>
                <a:srgbClr val="123836"/>
              </a:solidFill>
              <a:effectLst/>
            </c:spPr>
          </c:dPt>
          <c:dPt>
            <c:idx val="1"/>
            <c:bubble3D val="0"/>
            <c:spPr>
              <a:solidFill>
                <a:srgbClr val="73AA87"/>
              </a:solidFill>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P1 – Must Have</c:v>
                </c:pt>
                <c:pt idx="1">
                  <c:v>P2 – Should Have</c:v>
                </c:pt>
              </c:strCache>
            </c:strRef>
          </c:cat>
          <c:val>
            <c:numRef>
              <c:f>Sheet1!$B$2:$B$3</c:f>
              <c:numCache>
                <c:ptCount val="2"/>
                <c:pt idx="0">
                  <c:v>67</c:v>
                </c:pt>
                <c:pt idx="1">
                  <c:v>33</c:v>
                </c:pt>
              </c:numCache>
            </c:numRef>
          </c:val>
        </c:ser>
        <c:firstSliceAng val="0"/>
        <c:holeSize val="55"/>
      </c:doughnutChart>
      <c:spPr>
        <a:noFill/>
        <a:ln>
          <a:noFill/>
        </a:ln>
        <a:effectLst/>
      </c:spPr>
    </c:plotArea>
    <c:legend>
      <c:legendPos val="r"/>
      <c:overlay val="0"/>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chart" Target="/ppt/charts/chart7.xm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836"/>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F6359"/>
          </a:solidFill>
          <a:ln/>
        </p:spPr>
      </p:sp>
      <p:sp>
        <p:nvSpPr>
          <p:cNvPr id="3" name="Shape 1"/>
          <p:cNvSpPr/>
          <p:nvPr/>
        </p:nvSpPr>
        <p:spPr>
          <a:xfrm>
            <a:off x="0" y="4297680"/>
            <a:ext cx="9144000" cy="845820"/>
          </a:xfrm>
          <a:prstGeom prst="rect">
            <a:avLst/>
          </a:prstGeom>
          <a:solidFill>
            <a:srgbClr val="0A2422"/>
          </a:solidFill>
          <a:ln/>
        </p:spPr>
      </p:sp>
      <p:sp>
        <p:nvSpPr>
          <p:cNvPr id="4" name="Text 2"/>
          <p:cNvSpPr/>
          <p:nvPr/>
        </p:nvSpPr>
        <p:spPr>
          <a:xfrm>
            <a:off x="457200" y="1097280"/>
            <a:ext cx="7772400" cy="777240"/>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Solon Tax Product Roadmap 2026</a:t>
            </a:r>
            <a:endParaRPr lang="en-US" sz="3600" dirty="0"/>
          </a:p>
        </p:txBody>
      </p:sp>
      <p:sp>
        <p:nvSpPr>
          <p:cNvPr id="5" name="Text 3"/>
          <p:cNvSpPr/>
          <p:nvPr/>
        </p:nvSpPr>
        <p:spPr>
          <a:xfrm>
            <a:off x="457200" y="1874520"/>
            <a:ext cx="7315200" cy="502920"/>
          </a:xfrm>
          <a:prstGeom prst="rect">
            <a:avLst/>
          </a:prstGeom>
          <a:noFill/>
          <a:ln/>
        </p:spPr>
        <p:txBody>
          <a:bodyPr wrap="square" rtlCol="0" anchor="ctr"/>
          <a:lstStyle/>
          <a:p>
            <a:pPr indent="0" marL="0">
              <a:buNone/>
            </a:pPr>
            <a:r>
              <a:rPr lang="en-US" sz="2200" dirty="0">
                <a:solidFill>
                  <a:srgbClr val="73AA87"/>
                </a:solidFill>
                <a:latin typeface="Calibri" pitchFamily="34" charset="0"/>
                <a:ea typeface="Calibri" pitchFamily="34" charset="-122"/>
                <a:cs typeface="Calibri" pitchFamily="34" charset="-120"/>
              </a:rPr>
              <a:t>Feature Catalog for SteerCo</a:t>
            </a:r>
            <a:endParaRPr lang="en-US" sz="2200" dirty="0"/>
          </a:p>
        </p:txBody>
      </p:sp>
      <p:sp>
        <p:nvSpPr>
          <p:cNvPr id="6" name="Text 4"/>
          <p:cNvSpPr/>
          <p:nvPr/>
        </p:nvSpPr>
        <p:spPr>
          <a:xfrm>
            <a:off x="457200" y="2423160"/>
            <a:ext cx="7315200" cy="365760"/>
          </a:xfrm>
          <a:prstGeom prst="rect">
            <a:avLst/>
          </a:prstGeom>
          <a:noFill/>
          <a:ln/>
        </p:spPr>
        <p:txBody>
          <a:bodyPr wrap="square" rtlCol="0" anchor="ctr"/>
          <a:lstStyle/>
          <a:p>
            <a:pPr indent="0" marL="0">
              <a:buNone/>
            </a:pPr>
            <a:r>
              <a:rPr lang="en-US" sz="1400" dirty="0">
                <a:solidFill>
                  <a:srgbClr val="D0D7D7"/>
                </a:solidFill>
                <a:latin typeface="Calibri" pitchFamily="34" charset="0"/>
                <a:ea typeface="Calibri" pitchFamily="34" charset="-122"/>
                <a:cs typeface="Calibri" pitchFamily="34" charset="-120"/>
              </a:rPr>
              <a:t>Executive Steering Committee | 29 April 2026</a:t>
            </a:r>
            <a:endParaRPr lang="en-US" sz="1400" dirty="0"/>
          </a:p>
        </p:txBody>
      </p:sp>
      <p:sp>
        <p:nvSpPr>
          <p:cNvPr id="7" name="Text 5"/>
          <p:cNvSpPr/>
          <p:nvPr/>
        </p:nvSpPr>
        <p:spPr>
          <a:xfrm>
            <a:off x="457200" y="2880360"/>
            <a:ext cx="7315200" cy="320040"/>
          </a:xfrm>
          <a:prstGeom prst="rect">
            <a:avLst/>
          </a:prstGeom>
          <a:noFill/>
          <a:ln/>
        </p:spPr>
        <p:txBody>
          <a:bodyPr wrap="square" rtlCol="0" anchor="ctr"/>
          <a:lstStyle/>
          <a:p>
            <a:pPr indent="0" marL="0">
              <a:buNone/>
            </a:pPr>
            <a:r>
              <a:rPr lang="en-US" sz="1200" dirty="0">
                <a:solidFill>
                  <a:srgbClr val="718886"/>
                </a:solidFill>
                <a:latin typeface="Calibri" pitchFamily="34" charset="0"/>
                <a:ea typeface="Calibri" pitchFamily="34" charset="-122"/>
                <a:cs typeface="Calibri" pitchFamily="34" charset="-120"/>
              </a:rPr>
              <a:t>Prepared by: Nikolaj</a:t>
            </a:r>
            <a:endParaRPr lang="en-US" sz="1200" dirty="0"/>
          </a:p>
        </p:txBody>
      </p:sp>
      <p:sp>
        <p:nvSpPr>
          <p:cNvPr id="8" name="Text 6"/>
          <p:cNvSpPr/>
          <p:nvPr/>
        </p:nvSpPr>
        <p:spPr>
          <a:xfrm>
            <a:off x="6400800" y="4343400"/>
            <a:ext cx="2560320" cy="365760"/>
          </a:xfrm>
          <a:prstGeom prst="rect">
            <a:avLst/>
          </a:prstGeom>
          <a:noFill/>
          <a:ln/>
        </p:spPr>
        <p:txBody>
          <a:bodyPr wrap="square" rtlCol="0" anchor="ctr"/>
          <a:lstStyle/>
          <a:p>
            <a:pPr algn="r" indent="0" marL="0">
              <a:buNone/>
            </a:pPr>
            <a:r>
              <a:rPr lang="en-US" sz="1600" b="1" dirty="0">
                <a:solidFill>
                  <a:srgbClr val="73AA87"/>
                </a:solidFill>
              </a:rPr>
              <a:t>Netcompany</a:t>
            </a:r>
            <a:endParaRPr lang="en-US" sz="1600" dirty="0"/>
          </a:p>
        </p:txBody>
      </p:sp>
      <p:sp>
        <p:nvSpPr>
          <p:cNvPr id="9" name="Text 7"/>
          <p:cNvSpPr/>
          <p:nvPr/>
        </p:nvSpPr>
        <p:spPr>
          <a:xfrm>
            <a:off x="6400800" y="4663440"/>
            <a:ext cx="2560320" cy="274320"/>
          </a:xfrm>
          <a:prstGeom prst="rect">
            <a:avLst/>
          </a:prstGeom>
          <a:noFill/>
          <a:ln/>
        </p:spPr>
        <p:txBody>
          <a:bodyPr wrap="square" rtlCol="0" anchor="ctr"/>
          <a:lstStyle/>
          <a:p>
            <a:pPr algn="r" indent="0" marL="0">
              <a:buNone/>
            </a:pPr>
            <a:r>
              <a:rPr lang="en-US" sz="1000" dirty="0">
                <a:solidFill>
                  <a:srgbClr val="718886"/>
                </a:solidFill>
              </a:rPr>
              <a:t>netcompany.com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6"/>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23836"/>
          </a:solidFill>
          <a:ln/>
        </p:spPr>
      </p:sp>
      <p:sp>
        <p:nvSpPr>
          <p:cNvPr id="3" name="Shape 1"/>
          <p:cNvSpPr/>
          <p:nvPr/>
        </p:nvSpPr>
        <p:spPr>
          <a:xfrm>
            <a:off x="0" y="0"/>
            <a:ext cx="73152" cy="960120"/>
          </a:xfrm>
          <a:prstGeom prst="rect">
            <a:avLst/>
          </a:prstGeom>
          <a:solidFill>
            <a:srgbClr val="FF6359"/>
          </a:solidFill>
          <a:ln/>
        </p:spPr>
      </p:sp>
      <p:sp>
        <p:nvSpPr>
          <p:cNvPr id="4" name="Text 2"/>
          <p:cNvSpPr/>
          <p:nvPr/>
        </p:nvSpPr>
        <p:spPr>
          <a:xfrm>
            <a:off x="182880" y="64008"/>
            <a:ext cx="6400800" cy="50292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Agenda</a:t>
            </a:r>
            <a:endParaRPr lang="en-US" sz="2000" dirty="0"/>
          </a:p>
        </p:txBody>
      </p:sp>
      <p:sp>
        <p:nvSpPr>
          <p:cNvPr id="5" name="Text 3"/>
          <p:cNvSpPr/>
          <p:nvPr/>
        </p:nvSpPr>
        <p:spPr>
          <a:xfrm>
            <a:off x="182880" y="548640"/>
            <a:ext cx="8229600" cy="347472"/>
          </a:xfrm>
          <a:prstGeom prst="rect">
            <a:avLst/>
          </a:prstGeom>
          <a:noFill/>
          <a:ln/>
        </p:spPr>
        <p:txBody>
          <a:bodyPr wrap="square" rtlCol="0" anchor="ctr"/>
          <a:lstStyle/>
          <a:p>
            <a:pPr indent="0" marL="0">
              <a:buNone/>
            </a:pPr>
            <a:r>
              <a:rPr lang="en-US" sz="1100" dirty="0">
                <a:solidFill>
                  <a:srgbClr val="73AA87"/>
                </a:solidFill>
                <a:latin typeface="Calibri" pitchFamily="34" charset="0"/>
                <a:ea typeface="Calibri" pitchFamily="34" charset="-122"/>
                <a:cs typeface="Calibri" pitchFamily="34" charset="-120"/>
              </a:rPr>
              <a:t>Solon Tax Product Roadmap 2026 — SteerCo Session</a:t>
            </a:r>
            <a:endParaRPr lang="en-US" sz="1100" dirty="0"/>
          </a:p>
        </p:txBody>
      </p:sp>
      <p:sp>
        <p:nvSpPr>
          <p:cNvPr id="6" name="Text 4"/>
          <p:cNvSpPr/>
          <p:nvPr/>
        </p:nvSpPr>
        <p:spPr>
          <a:xfrm>
            <a:off x="6858000" y="73152"/>
            <a:ext cx="2103120" cy="365760"/>
          </a:xfrm>
          <a:prstGeom prst="rect">
            <a:avLst/>
          </a:prstGeom>
          <a:noFill/>
          <a:ln/>
        </p:spPr>
        <p:txBody>
          <a:bodyPr wrap="square" rtlCol="0" anchor="ctr"/>
          <a:lstStyle/>
          <a:p>
            <a:pPr algn="r" indent="0" marL="0">
              <a:buNone/>
            </a:pPr>
            <a:r>
              <a:rPr lang="en-US" sz="1200" b="1" dirty="0">
                <a:solidFill>
                  <a:srgbClr val="73AA87"/>
                </a:solidFill>
                <a:latin typeface="Calibri" pitchFamily="34" charset="0"/>
                <a:ea typeface="Calibri" pitchFamily="34" charset="-122"/>
                <a:cs typeface="Calibri" pitchFamily="34" charset="-120"/>
              </a:rPr>
              <a:t>Netcompany</a:t>
            </a:r>
            <a:endParaRPr lang="en-US" sz="1200" dirty="0"/>
          </a:p>
        </p:txBody>
      </p:sp>
      <p:sp>
        <p:nvSpPr>
          <p:cNvPr id="7" name="Shape 5"/>
          <p:cNvSpPr/>
          <p:nvPr/>
        </p:nvSpPr>
        <p:spPr>
          <a:xfrm>
            <a:off x="0" y="4983480"/>
            <a:ext cx="9144000" cy="160020"/>
          </a:xfrm>
          <a:prstGeom prst="rect">
            <a:avLst/>
          </a:prstGeom>
          <a:solidFill>
            <a:srgbClr val="123836"/>
          </a:solidFill>
          <a:ln/>
        </p:spPr>
      </p:sp>
      <p:sp>
        <p:nvSpPr>
          <p:cNvPr id="8" name="Text 6"/>
          <p:cNvSpPr/>
          <p:nvPr/>
        </p:nvSpPr>
        <p:spPr>
          <a:xfrm>
            <a:off x="137160" y="4974336"/>
            <a:ext cx="6400800" cy="164592"/>
          </a:xfrm>
          <a:prstGeom prst="rect">
            <a:avLst/>
          </a:prstGeom>
          <a:noFill/>
          <a:ln/>
        </p:spPr>
        <p:txBody>
          <a:bodyPr wrap="square" rtlCol="0" anchor="ctr"/>
          <a:lstStyle/>
          <a:p>
            <a:pPr indent="0" marL="0">
              <a:buNone/>
            </a:pPr>
            <a:r>
              <a:rPr lang="en-US" sz="800" dirty="0">
                <a:solidFill>
                  <a:srgbClr val="D0D7D7"/>
                </a:solidFill>
                <a:latin typeface="Calibri" pitchFamily="34" charset="0"/>
                <a:ea typeface="Calibri" pitchFamily="34" charset="-122"/>
                <a:cs typeface="Calibri" pitchFamily="34" charset="-120"/>
              </a:rPr>
              <a:t>Solon Tax Product Roadmap 2026 | SteerCo</a:t>
            </a:r>
            <a:endParaRPr lang="en-US" sz="800" dirty="0"/>
          </a:p>
        </p:txBody>
      </p:sp>
      <p:sp>
        <p:nvSpPr>
          <p:cNvPr id="9" name="Text 7"/>
          <p:cNvSpPr/>
          <p:nvPr/>
        </p:nvSpPr>
        <p:spPr>
          <a:xfrm>
            <a:off x="8686800" y="4974336"/>
            <a:ext cx="365760" cy="164592"/>
          </a:xfrm>
          <a:prstGeom prst="rect">
            <a:avLst/>
          </a:prstGeom>
          <a:noFill/>
          <a:ln/>
        </p:spPr>
        <p:txBody>
          <a:bodyPr wrap="square" rtlCol="0" anchor="ctr"/>
          <a:lstStyle/>
          <a:p>
            <a:pPr algn="r" indent="0" marL="0">
              <a:buNone/>
            </a:pPr>
            <a:r>
              <a:rPr lang="en-US" sz="800" dirty="0">
                <a:solidFill>
                  <a:srgbClr val="D0D7D7"/>
                </a:solidFill>
                <a:latin typeface="Calibri" pitchFamily="34" charset="0"/>
                <a:ea typeface="Calibri" pitchFamily="34" charset="-122"/>
                <a:cs typeface="Calibri" pitchFamily="34" charset="-120"/>
              </a:rPr>
              <a:t>2</a:t>
            </a:r>
            <a:endParaRPr lang="en-US" sz="800" dirty="0"/>
          </a:p>
        </p:txBody>
      </p:sp>
      <p:sp>
        <p:nvSpPr>
          <p:cNvPr id="10" name="Shape 8"/>
          <p:cNvSpPr/>
          <p:nvPr/>
        </p:nvSpPr>
        <p:spPr>
          <a:xfrm>
            <a:off x="228600" y="1051560"/>
            <a:ext cx="4297680" cy="1097280"/>
          </a:xfrm>
          <a:prstGeom prst="rect">
            <a:avLst/>
          </a:prstGeom>
          <a:solidFill>
            <a:srgbClr val="FFFFFF"/>
          </a:solidFill>
          <a:ln w="12700">
            <a:solidFill>
              <a:srgbClr val="D0D7D7"/>
            </a:solidFill>
            <a:prstDash val="solid"/>
          </a:ln>
          <a:effectLst>
            <a:outerShdw sx="100000" sy="100000" kx="0" ky="0" algn="bl" rotWithShape="0" blurRad="50800" dist="25400" dir="8100000">
              <a:srgbClr val="000000">
                <a:alpha val="12000"/>
              </a:srgbClr>
            </a:outerShdw>
          </a:effectLst>
        </p:spPr>
      </p:sp>
      <p:sp>
        <p:nvSpPr>
          <p:cNvPr id="11" name="Shape 9"/>
          <p:cNvSpPr/>
          <p:nvPr/>
        </p:nvSpPr>
        <p:spPr>
          <a:xfrm>
            <a:off x="228600" y="1051560"/>
            <a:ext cx="54864" cy="1097280"/>
          </a:xfrm>
          <a:prstGeom prst="rect">
            <a:avLst/>
          </a:prstGeom>
          <a:solidFill>
            <a:srgbClr val="FF6359"/>
          </a:solidFill>
          <a:ln/>
        </p:spPr>
      </p:sp>
      <p:sp>
        <p:nvSpPr>
          <p:cNvPr id="12" name="Text 10"/>
          <p:cNvSpPr/>
          <p:nvPr/>
        </p:nvSpPr>
        <p:spPr>
          <a:xfrm>
            <a:off x="338328" y="1124712"/>
            <a:ext cx="457200" cy="365760"/>
          </a:xfrm>
          <a:prstGeom prst="rect">
            <a:avLst/>
          </a:prstGeom>
          <a:noFill/>
          <a:ln/>
        </p:spPr>
        <p:txBody>
          <a:bodyPr wrap="square" rtlCol="0" anchor="ctr"/>
          <a:lstStyle/>
          <a:p>
            <a:pPr indent="0" marL="0">
              <a:buNone/>
            </a:pPr>
            <a:r>
              <a:rPr lang="en-US" sz="2000" b="1" dirty="0">
                <a:solidFill>
                  <a:srgbClr val="73AA87"/>
                </a:solidFill>
              </a:rPr>
              <a:t>01</a:t>
            </a:r>
            <a:endParaRPr lang="en-US" sz="2000" dirty="0"/>
          </a:p>
        </p:txBody>
      </p:sp>
      <p:sp>
        <p:nvSpPr>
          <p:cNvPr id="13" name="Text 11"/>
          <p:cNvSpPr/>
          <p:nvPr/>
        </p:nvSpPr>
        <p:spPr>
          <a:xfrm>
            <a:off x="338328" y="1435608"/>
            <a:ext cx="4069080" cy="347472"/>
          </a:xfrm>
          <a:prstGeom prst="rect">
            <a:avLst/>
          </a:prstGeom>
          <a:noFill/>
          <a:ln/>
        </p:spPr>
        <p:txBody>
          <a:bodyPr wrap="square" rtlCol="0" anchor="ctr"/>
          <a:lstStyle/>
          <a:p>
            <a:pPr indent="0" marL="0">
              <a:buNone/>
            </a:pPr>
            <a:r>
              <a:rPr lang="en-US" sz="1100" b="1" dirty="0">
                <a:solidFill>
                  <a:srgbClr val="123836"/>
                </a:solidFill>
              </a:rPr>
              <a:t>Core Revenue Management Capabilities</a:t>
            </a:r>
            <a:endParaRPr lang="en-US" sz="1100" dirty="0"/>
          </a:p>
        </p:txBody>
      </p:sp>
      <p:sp>
        <p:nvSpPr>
          <p:cNvPr id="14" name="Text 12"/>
          <p:cNvSpPr/>
          <p:nvPr/>
        </p:nvSpPr>
        <p:spPr>
          <a:xfrm>
            <a:off x="338328" y="1764792"/>
            <a:ext cx="4069080" cy="320040"/>
          </a:xfrm>
          <a:prstGeom prst="rect">
            <a:avLst/>
          </a:prstGeom>
          <a:noFill/>
          <a:ln/>
        </p:spPr>
        <p:txBody>
          <a:bodyPr wrap="square" rtlCol="0" anchor="ctr"/>
          <a:lstStyle/>
          <a:p>
            <a:pPr indent="0" marL="0">
              <a:buNone/>
            </a:pPr>
            <a:r>
              <a:rPr lang="en-US" sz="850" dirty="0">
                <a:solidFill>
                  <a:srgbClr val="718886"/>
                </a:solidFill>
              </a:rPr>
              <a:t>Registration · Taxpayer Accounting · Billing · Exemptions · Penalty &amp; Interest · Tax Accounts</a:t>
            </a:r>
            <a:endParaRPr lang="en-US" sz="850" dirty="0"/>
          </a:p>
        </p:txBody>
      </p:sp>
      <p:sp>
        <p:nvSpPr>
          <p:cNvPr id="15" name="Shape 13"/>
          <p:cNvSpPr/>
          <p:nvPr/>
        </p:nvSpPr>
        <p:spPr>
          <a:xfrm>
            <a:off x="4800600" y="1051560"/>
            <a:ext cx="4297680" cy="1097280"/>
          </a:xfrm>
          <a:prstGeom prst="rect">
            <a:avLst/>
          </a:prstGeom>
          <a:solidFill>
            <a:srgbClr val="FFFFFF"/>
          </a:solidFill>
          <a:ln w="12700">
            <a:solidFill>
              <a:srgbClr val="D0D7D7"/>
            </a:solidFill>
            <a:prstDash val="solid"/>
          </a:ln>
          <a:effectLst>
            <a:outerShdw sx="100000" sy="100000" kx="0" ky="0" algn="bl" rotWithShape="0" blurRad="50800" dist="25400" dir="8100000">
              <a:srgbClr val="000000">
                <a:alpha val="12000"/>
              </a:srgbClr>
            </a:outerShdw>
          </a:effectLst>
        </p:spPr>
      </p:sp>
      <p:sp>
        <p:nvSpPr>
          <p:cNvPr id="16" name="Shape 14"/>
          <p:cNvSpPr/>
          <p:nvPr/>
        </p:nvSpPr>
        <p:spPr>
          <a:xfrm>
            <a:off x="4800600" y="1051560"/>
            <a:ext cx="54864" cy="1097280"/>
          </a:xfrm>
          <a:prstGeom prst="rect">
            <a:avLst/>
          </a:prstGeom>
          <a:solidFill>
            <a:srgbClr val="FF6359"/>
          </a:solidFill>
          <a:ln/>
        </p:spPr>
      </p:sp>
      <p:sp>
        <p:nvSpPr>
          <p:cNvPr id="17" name="Text 15"/>
          <p:cNvSpPr/>
          <p:nvPr/>
        </p:nvSpPr>
        <p:spPr>
          <a:xfrm>
            <a:off x="4910328" y="1124712"/>
            <a:ext cx="457200" cy="365760"/>
          </a:xfrm>
          <a:prstGeom prst="rect">
            <a:avLst/>
          </a:prstGeom>
          <a:noFill/>
          <a:ln/>
        </p:spPr>
        <p:txBody>
          <a:bodyPr wrap="square" rtlCol="0" anchor="ctr"/>
          <a:lstStyle/>
          <a:p>
            <a:pPr indent="0" marL="0">
              <a:buNone/>
            </a:pPr>
            <a:r>
              <a:rPr lang="en-US" sz="2000" b="1" dirty="0">
                <a:solidFill>
                  <a:srgbClr val="73AA87"/>
                </a:solidFill>
              </a:rPr>
              <a:t>02</a:t>
            </a:r>
            <a:endParaRPr lang="en-US" sz="2000" dirty="0"/>
          </a:p>
        </p:txBody>
      </p:sp>
      <p:sp>
        <p:nvSpPr>
          <p:cNvPr id="18" name="Text 16"/>
          <p:cNvSpPr/>
          <p:nvPr/>
        </p:nvSpPr>
        <p:spPr>
          <a:xfrm>
            <a:off x="4910328" y="1435608"/>
            <a:ext cx="4069080" cy="347472"/>
          </a:xfrm>
          <a:prstGeom prst="rect">
            <a:avLst/>
          </a:prstGeom>
          <a:noFill/>
          <a:ln/>
        </p:spPr>
        <p:txBody>
          <a:bodyPr wrap="square" rtlCol="0" anchor="ctr"/>
          <a:lstStyle/>
          <a:p>
            <a:pPr indent="0" marL="0">
              <a:buNone/>
            </a:pPr>
            <a:r>
              <a:rPr lang="en-US" sz="1100" b="1" dirty="0">
                <a:solidFill>
                  <a:srgbClr val="123836"/>
                </a:solidFill>
              </a:rPr>
              <a:t>Core Supporting Capabilities</a:t>
            </a:r>
            <a:endParaRPr lang="en-US" sz="1100" dirty="0"/>
          </a:p>
        </p:txBody>
      </p:sp>
      <p:sp>
        <p:nvSpPr>
          <p:cNvPr id="19" name="Text 17"/>
          <p:cNvSpPr/>
          <p:nvPr/>
        </p:nvSpPr>
        <p:spPr>
          <a:xfrm>
            <a:off x="4910328" y="1764792"/>
            <a:ext cx="4069080" cy="320040"/>
          </a:xfrm>
          <a:prstGeom prst="rect">
            <a:avLst/>
          </a:prstGeom>
          <a:noFill/>
          <a:ln/>
        </p:spPr>
        <p:txBody>
          <a:bodyPr wrap="square" rtlCol="0" anchor="ctr"/>
          <a:lstStyle/>
          <a:p>
            <a:pPr indent="0" marL="0">
              <a:buNone/>
            </a:pPr>
            <a:r>
              <a:rPr lang="en-US" sz="850" dirty="0">
                <a:solidFill>
                  <a:srgbClr val="718886"/>
                </a:solidFill>
              </a:rPr>
              <a:t>Supporting functions enabling the tax administration platform</a:t>
            </a:r>
            <a:endParaRPr lang="en-US" sz="850" dirty="0"/>
          </a:p>
        </p:txBody>
      </p:sp>
      <p:sp>
        <p:nvSpPr>
          <p:cNvPr id="20" name="Shape 18"/>
          <p:cNvSpPr/>
          <p:nvPr/>
        </p:nvSpPr>
        <p:spPr>
          <a:xfrm>
            <a:off x="228600" y="2286000"/>
            <a:ext cx="4297680" cy="1097280"/>
          </a:xfrm>
          <a:prstGeom prst="rect">
            <a:avLst/>
          </a:prstGeom>
          <a:solidFill>
            <a:srgbClr val="FFFFFF"/>
          </a:solidFill>
          <a:ln w="12700">
            <a:solidFill>
              <a:srgbClr val="D0D7D7"/>
            </a:solidFill>
            <a:prstDash val="solid"/>
          </a:ln>
          <a:effectLst>
            <a:outerShdw sx="100000" sy="100000" kx="0" ky="0" algn="bl" rotWithShape="0" blurRad="50800" dist="25400" dir="8100000">
              <a:srgbClr val="000000">
                <a:alpha val="12000"/>
              </a:srgbClr>
            </a:outerShdw>
          </a:effectLst>
        </p:spPr>
      </p:sp>
      <p:sp>
        <p:nvSpPr>
          <p:cNvPr id="21" name="Shape 19"/>
          <p:cNvSpPr/>
          <p:nvPr/>
        </p:nvSpPr>
        <p:spPr>
          <a:xfrm>
            <a:off x="228600" y="2286000"/>
            <a:ext cx="54864" cy="1097280"/>
          </a:xfrm>
          <a:prstGeom prst="rect">
            <a:avLst/>
          </a:prstGeom>
          <a:solidFill>
            <a:srgbClr val="FF6359"/>
          </a:solidFill>
          <a:ln/>
        </p:spPr>
      </p:sp>
      <p:sp>
        <p:nvSpPr>
          <p:cNvPr id="22" name="Text 20"/>
          <p:cNvSpPr/>
          <p:nvPr/>
        </p:nvSpPr>
        <p:spPr>
          <a:xfrm>
            <a:off x="338328" y="2359152"/>
            <a:ext cx="457200" cy="365760"/>
          </a:xfrm>
          <a:prstGeom prst="rect">
            <a:avLst/>
          </a:prstGeom>
          <a:noFill/>
          <a:ln/>
        </p:spPr>
        <p:txBody>
          <a:bodyPr wrap="square" rtlCol="0" anchor="ctr"/>
          <a:lstStyle/>
          <a:p>
            <a:pPr indent="0" marL="0">
              <a:buNone/>
            </a:pPr>
            <a:r>
              <a:rPr lang="en-US" sz="2000" b="1" dirty="0">
                <a:solidFill>
                  <a:srgbClr val="73AA87"/>
                </a:solidFill>
              </a:rPr>
              <a:t>03</a:t>
            </a:r>
            <a:endParaRPr lang="en-US" sz="2000" dirty="0"/>
          </a:p>
        </p:txBody>
      </p:sp>
      <p:sp>
        <p:nvSpPr>
          <p:cNvPr id="23" name="Text 21"/>
          <p:cNvSpPr/>
          <p:nvPr/>
        </p:nvSpPr>
        <p:spPr>
          <a:xfrm>
            <a:off x="338328" y="2670048"/>
            <a:ext cx="4069080" cy="347472"/>
          </a:xfrm>
          <a:prstGeom prst="rect">
            <a:avLst/>
          </a:prstGeom>
          <a:noFill/>
          <a:ln/>
        </p:spPr>
        <p:txBody>
          <a:bodyPr wrap="square" rtlCol="0" anchor="ctr"/>
          <a:lstStyle/>
          <a:p>
            <a:pPr indent="0" marL="0">
              <a:buNone/>
            </a:pPr>
            <a:r>
              <a:rPr lang="en-US" sz="1100" b="1" dirty="0">
                <a:solidFill>
                  <a:srgbClr val="123836"/>
                </a:solidFill>
              </a:rPr>
              <a:t>Non-Functional Requirement Coverage</a:t>
            </a:r>
            <a:endParaRPr lang="en-US" sz="1100" dirty="0"/>
          </a:p>
        </p:txBody>
      </p:sp>
      <p:sp>
        <p:nvSpPr>
          <p:cNvPr id="24" name="Text 22"/>
          <p:cNvSpPr/>
          <p:nvPr/>
        </p:nvSpPr>
        <p:spPr>
          <a:xfrm>
            <a:off x="338328" y="2999232"/>
            <a:ext cx="4069080" cy="320040"/>
          </a:xfrm>
          <a:prstGeom prst="rect">
            <a:avLst/>
          </a:prstGeom>
          <a:noFill/>
          <a:ln/>
        </p:spPr>
        <p:txBody>
          <a:bodyPr wrap="square" rtlCol="0" anchor="ctr"/>
          <a:lstStyle/>
          <a:p>
            <a:pPr indent="0" marL="0">
              <a:buNone/>
            </a:pPr>
            <a:r>
              <a:rPr lang="en-US" sz="850" dirty="0">
                <a:solidFill>
                  <a:srgbClr val="718886"/>
                </a:solidFill>
              </a:rPr>
              <a:t>Performance, security, reliability and compliance standards</a:t>
            </a:r>
            <a:endParaRPr lang="en-US" sz="850" dirty="0"/>
          </a:p>
        </p:txBody>
      </p:sp>
      <p:sp>
        <p:nvSpPr>
          <p:cNvPr id="25" name="Shape 23"/>
          <p:cNvSpPr/>
          <p:nvPr/>
        </p:nvSpPr>
        <p:spPr>
          <a:xfrm>
            <a:off x="4800600" y="2286000"/>
            <a:ext cx="4297680" cy="1097280"/>
          </a:xfrm>
          <a:prstGeom prst="rect">
            <a:avLst/>
          </a:prstGeom>
          <a:solidFill>
            <a:srgbClr val="FFFFFF"/>
          </a:solidFill>
          <a:ln w="12700">
            <a:solidFill>
              <a:srgbClr val="D0D7D7"/>
            </a:solidFill>
            <a:prstDash val="solid"/>
          </a:ln>
          <a:effectLst>
            <a:outerShdw sx="100000" sy="100000" kx="0" ky="0" algn="bl" rotWithShape="0" blurRad="50800" dist="25400" dir="8100000">
              <a:srgbClr val="000000">
                <a:alpha val="12000"/>
              </a:srgbClr>
            </a:outerShdw>
          </a:effectLst>
        </p:spPr>
      </p:sp>
      <p:sp>
        <p:nvSpPr>
          <p:cNvPr id="26" name="Shape 24"/>
          <p:cNvSpPr/>
          <p:nvPr/>
        </p:nvSpPr>
        <p:spPr>
          <a:xfrm>
            <a:off x="4800600" y="2286000"/>
            <a:ext cx="54864" cy="1097280"/>
          </a:xfrm>
          <a:prstGeom prst="rect">
            <a:avLst/>
          </a:prstGeom>
          <a:solidFill>
            <a:srgbClr val="FF6359"/>
          </a:solidFill>
          <a:ln/>
        </p:spPr>
      </p:sp>
      <p:sp>
        <p:nvSpPr>
          <p:cNvPr id="27" name="Text 25"/>
          <p:cNvSpPr/>
          <p:nvPr/>
        </p:nvSpPr>
        <p:spPr>
          <a:xfrm>
            <a:off x="4910328" y="2359152"/>
            <a:ext cx="457200" cy="365760"/>
          </a:xfrm>
          <a:prstGeom prst="rect">
            <a:avLst/>
          </a:prstGeom>
          <a:noFill/>
          <a:ln/>
        </p:spPr>
        <p:txBody>
          <a:bodyPr wrap="square" rtlCol="0" anchor="ctr"/>
          <a:lstStyle/>
          <a:p>
            <a:pPr indent="0" marL="0">
              <a:buNone/>
            </a:pPr>
            <a:r>
              <a:rPr lang="en-US" sz="2000" b="1" dirty="0">
                <a:solidFill>
                  <a:srgbClr val="73AA87"/>
                </a:solidFill>
              </a:rPr>
              <a:t>04</a:t>
            </a:r>
            <a:endParaRPr lang="en-US" sz="2000" dirty="0"/>
          </a:p>
        </p:txBody>
      </p:sp>
      <p:sp>
        <p:nvSpPr>
          <p:cNvPr id="28" name="Text 26"/>
          <p:cNvSpPr/>
          <p:nvPr/>
        </p:nvSpPr>
        <p:spPr>
          <a:xfrm>
            <a:off x="4910328" y="2670048"/>
            <a:ext cx="4069080" cy="347472"/>
          </a:xfrm>
          <a:prstGeom prst="rect">
            <a:avLst/>
          </a:prstGeom>
          <a:noFill/>
          <a:ln/>
        </p:spPr>
        <p:txBody>
          <a:bodyPr wrap="square" rtlCol="0" anchor="ctr"/>
          <a:lstStyle/>
          <a:p>
            <a:pPr indent="0" marL="0">
              <a:buNone/>
            </a:pPr>
            <a:r>
              <a:rPr lang="en-US" sz="1100" b="1" dirty="0">
                <a:solidFill>
                  <a:srgbClr val="123836"/>
                </a:solidFill>
              </a:rPr>
              <a:t>Reference Implementations</a:t>
            </a:r>
            <a:endParaRPr lang="en-US" sz="1100" dirty="0"/>
          </a:p>
        </p:txBody>
      </p:sp>
      <p:sp>
        <p:nvSpPr>
          <p:cNvPr id="29" name="Text 27"/>
          <p:cNvSpPr/>
          <p:nvPr/>
        </p:nvSpPr>
        <p:spPr>
          <a:xfrm>
            <a:off x="4910328" y="2999232"/>
            <a:ext cx="4069080" cy="320040"/>
          </a:xfrm>
          <a:prstGeom prst="rect">
            <a:avLst/>
          </a:prstGeom>
          <a:noFill/>
          <a:ln/>
        </p:spPr>
        <p:txBody>
          <a:bodyPr wrap="square" rtlCol="0" anchor="ctr"/>
          <a:lstStyle/>
          <a:p>
            <a:pPr indent="0" marL="0">
              <a:buNone/>
            </a:pPr>
            <a:r>
              <a:rPr lang="en-US" sz="850" dirty="0">
                <a:solidFill>
                  <a:srgbClr val="718886"/>
                </a:solidFill>
              </a:rPr>
              <a:t>Baseline modules and reusable implementation patterns</a:t>
            </a:r>
            <a:endParaRPr lang="en-US" sz="850" dirty="0"/>
          </a:p>
        </p:txBody>
      </p:sp>
      <p:sp>
        <p:nvSpPr>
          <p:cNvPr id="30" name="Shape 28"/>
          <p:cNvSpPr/>
          <p:nvPr/>
        </p:nvSpPr>
        <p:spPr>
          <a:xfrm>
            <a:off x="228600" y="3520440"/>
            <a:ext cx="4297680" cy="1097280"/>
          </a:xfrm>
          <a:prstGeom prst="rect">
            <a:avLst/>
          </a:prstGeom>
          <a:solidFill>
            <a:srgbClr val="FFFFFF"/>
          </a:solidFill>
          <a:ln w="12700">
            <a:solidFill>
              <a:srgbClr val="D0D7D7"/>
            </a:solidFill>
            <a:prstDash val="solid"/>
          </a:ln>
          <a:effectLst>
            <a:outerShdw sx="100000" sy="100000" kx="0" ky="0" algn="bl" rotWithShape="0" blurRad="50800" dist="25400" dir="8100000">
              <a:srgbClr val="000000">
                <a:alpha val="12000"/>
              </a:srgbClr>
            </a:outerShdw>
          </a:effectLst>
        </p:spPr>
      </p:sp>
      <p:sp>
        <p:nvSpPr>
          <p:cNvPr id="31" name="Shape 29"/>
          <p:cNvSpPr/>
          <p:nvPr/>
        </p:nvSpPr>
        <p:spPr>
          <a:xfrm>
            <a:off x="228600" y="3520440"/>
            <a:ext cx="54864" cy="1097280"/>
          </a:xfrm>
          <a:prstGeom prst="rect">
            <a:avLst/>
          </a:prstGeom>
          <a:solidFill>
            <a:srgbClr val="FF6359"/>
          </a:solidFill>
          <a:ln/>
        </p:spPr>
      </p:sp>
      <p:sp>
        <p:nvSpPr>
          <p:cNvPr id="32" name="Text 30"/>
          <p:cNvSpPr/>
          <p:nvPr/>
        </p:nvSpPr>
        <p:spPr>
          <a:xfrm>
            <a:off x="338328" y="3593592"/>
            <a:ext cx="457200" cy="365760"/>
          </a:xfrm>
          <a:prstGeom prst="rect">
            <a:avLst/>
          </a:prstGeom>
          <a:noFill/>
          <a:ln/>
        </p:spPr>
        <p:txBody>
          <a:bodyPr wrap="square" rtlCol="0" anchor="ctr"/>
          <a:lstStyle/>
          <a:p>
            <a:pPr indent="0" marL="0">
              <a:buNone/>
            </a:pPr>
            <a:r>
              <a:rPr lang="en-US" sz="2000" b="1" dirty="0">
                <a:solidFill>
                  <a:srgbClr val="73AA87"/>
                </a:solidFill>
              </a:rPr>
              <a:t>05</a:t>
            </a:r>
            <a:endParaRPr lang="en-US" sz="2000" dirty="0"/>
          </a:p>
        </p:txBody>
      </p:sp>
      <p:sp>
        <p:nvSpPr>
          <p:cNvPr id="33" name="Text 31"/>
          <p:cNvSpPr/>
          <p:nvPr/>
        </p:nvSpPr>
        <p:spPr>
          <a:xfrm>
            <a:off x="338328" y="3904488"/>
            <a:ext cx="4069080" cy="347472"/>
          </a:xfrm>
          <a:prstGeom prst="rect">
            <a:avLst/>
          </a:prstGeom>
          <a:noFill/>
          <a:ln/>
        </p:spPr>
        <p:txBody>
          <a:bodyPr wrap="square" rtlCol="0" anchor="ctr"/>
          <a:lstStyle/>
          <a:p>
            <a:pPr indent="0" marL="0">
              <a:buNone/>
            </a:pPr>
            <a:r>
              <a:rPr lang="en-US" sz="1100" b="1" dirty="0">
                <a:solidFill>
                  <a:srgbClr val="123836"/>
                </a:solidFill>
              </a:rPr>
              <a:t>Core Self Service Capabilities</a:t>
            </a:r>
            <a:endParaRPr lang="en-US" sz="1100" dirty="0"/>
          </a:p>
        </p:txBody>
      </p:sp>
      <p:sp>
        <p:nvSpPr>
          <p:cNvPr id="34" name="Text 32"/>
          <p:cNvSpPr/>
          <p:nvPr/>
        </p:nvSpPr>
        <p:spPr>
          <a:xfrm>
            <a:off x="338328" y="4233672"/>
            <a:ext cx="4069080" cy="320040"/>
          </a:xfrm>
          <a:prstGeom prst="rect">
            <a:avLst/>
          </a:prstGeom>
          <a:noFill/>
          <a:ln/>
        </p:spPr>
        <p:txBody>
          <a:bodyPr wrap="square" rtlCol="0" anchor="ctr"/>
          <a:lstStyle/>
          <a:p>
            <a:pPr indent="0" marL="0">
              <a:buNone/>
            </a:pPr>
            <a:r>
              <a:rPr lang="en-US" sz="850" dirty="0">
                <a:solidFill>
                  <a:srgbClr val="718886"/>
                </a:solidFill>
              </a:rPr>
              <a:t>Taxpayer-facing portal and self-service functionality</a:t>
            </a:r>
            <a:endParaRPr lang="en-US" sz="850" dirty="0"/>
          </a:p>
        </p:txBody>
      </p:sp>
      <p:sp>
        <p:nvSpPr>
          <p:cNvPr id="35" name="Shape 33"/>
          <p:cNvSpPr/>
          <p:nvPr/>
        </p:nvSpPr>
        <p:spPr>
          <a:xfrm>
            <a:off x="4800600" y="3520440"/>
            <a:ext cx="4297680" cy="1097280"/>
          </a:xfrm>
          <a:prstGeom prst="rect">
            <a:avLst/>
          </a:prstGeom>
          <a:solidFill>
            <a:srgbClr val="FFFFFF"/>
          </a:solidFill>
          <a:ln w="12700">
            <a:solidFill>
              <a:srgbClr val="D0D7D7"/>
            </a:solidFill>
            <a:prstDash val="solid"/>
          </a:ln>
          <a:effectLst>
            <a:outerShdw sx="100000" sy="100000" kx="0" ky="0" algn="bl" rotWithShape="0" blurRad="50800" dist="25400" dir="8100000">
              <a:srgbClr val="000000">
                <a:alpha val="12000"/>
              </a:srgbClr>
            </a:outerShdw>
          </a:effectLst>
        </p:spPr>
      </p:sp>
      <p:sp>
        <p:nvSpPr>
          <p:cNvPr id="36" name="Shape 34"/>
          <p:cNvSpPr/>
          <p:nvPr/>
        </p:nvSpPr>
        <p:spPr>
          <a:xfrm>
            <a:off x="4800600" y="3520440"/>
            <a:ext cx="54864" cy="1097280"/>
          </a:xfrm>
          <a:prstGeom prst="rect">
            <a:avLst/>
          </a:prstGeom>
          <a:solidFill>
            <a:srgbClr val="FF6359"/>
          </a:solidFill>
          <a:ln/>
        </p:spPr>
      </p:sp>
      <p:sp>
        <p:nvSpPr>
          <p:cNvPr id="37" name="Text 35"/>
          <p:cNvSpPr/>
          <p:nvPr/>
        </p:nvSpPr>
        <p:spPr>
          <a:xfrm>
            <a:off x="4910328" y="3593592"/>
            <a:ext cx="457200" cy="365760"/>
          </a:xfrm>
          <a:prstGeom prst="rect">
            <a:avLst/>
          </a:prstGeom>
          <a:noFill/>
          <a:ln/>
        </p:spPr>
        <p:txBody>
          <a:bodyPr wrap="square" rtlCol="0" anchor="ctr"/>
          <a:lstStyle/>
          <a:p>
            <a:pPr indent="0" marL="0">
              <a:buNone/>
            </a:pPr>
            <a:r>
              <a:rPr lang="en-US" sz="2000" b="1" dirty="0">
                <a:solidFill>
                  <a:srgbClr val="73AA87"/>
                </a:solidFill>
              </a:rPr>
              <a:t>06</a:t>
            </a:r>
            <a:endParaRPr lang="en-US" sz="2000" dirty="0"/>
          </a:p>
        </p:txBody>
      </p:sp>
      <p:sp>
        <p:nvSpPr>
          <p:cNvPr id="38" name="Text 36"/>
          <p:cNvSpPr/>
          <p:nvPr/>
        </p:nvSpPr>
        <p:spPr>
          <a:xfrm>
            <a:off x="4910328" y="3904488"/>
            <a:ext cx="4069080" cy="347472"/>
          </a:xfrm>
          <a:prstGeom prst="rect">
            <a:avLst/>
          </a:prstGeom>
          <a:noFill/>
          <a:ln/>
        </p:spPr>
        <p:txBody>
          <a:bodyPr wrap="square" rtlCol="0" anchor="ctr"/>
          <a:lstStyle/>
          <a:p>
            <a:pPr indent="0" marL="0">
              <a:buNone/>
            </a:pPr>
            <a:r>
              <a:rPr lang="en-US" sz="1100" b="1" dirty="0">
                <a:solidFill>
                  <a:srgbClr val="123836"/>
                </a:solidFill>
              </a:rPr>
              <a:t>Core Data Hub Capabilities</a:t>
            </a:r>
            <a:endParaRPr lang="en-US" sz="1100" dirty="0"/>
          </a:p>
        </p:txBody>
      </p:sp>
      <p:sp>
        <p:nvSpPr>
          <p:cNvPr id="39" name="Text 37"/>
          <p:cNvSpPr/>
          <p:nvPr/>
        </p:nvSpPr>
        <p:spPr>
          <a:xfrm>
            <a:off x="4910328" y="4233672"/>
            <a:ext cx="4069080" cy="320040"/>
          </a:xfrm>
          <a:prstGeom prst="rect">
            <a:avLst/>
          </a:prstGeom>
          <a:noFill/>
          <a:ln/>
        </p:spPr>
        <p:txBody>
          <a:bodyPr wrap="square" rtlCol="0" anchor="ctr"/>
          <a:lstStyle/>
          <a:p>
            <a:pPr indent="0" marL="0">
              <a:buNone/>
            </a:pPr>
            <a:r>
              <a:rPr lang="en-US" sz="850" dirty="0">
                <a:solidFill>
                  <a:srgbClr val="718886"/>
                </a:solidFill>
              </a:rPr>
              <a:t>Data integration, analytics and reporting infrastructure</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6"/>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23836"/>
          </a:solidFill>
          <a:ln/>
        </p:spPr>
      </p:sp>
      <p:sp>
        <p:nvSpPr>
          <p:cNvPr id="3" name="Shape 1"/>
          <p:cNvSpPr/>
          <p:nvPr/>
        </p:nvSpPr>
        <p:spPr>
          <a:xfrm>
            <a:off x="0" y="0"/>
            <a:ext cx="73152" cy="960120"/>
          </a:xfrm>
          <a:prstGeom prst="rect">
            <a:avLst/>
          </a:prstGeom>
          <a:solidFill>
            <a:srgbClr val="FF6359"/>
          </a:solidFill>
          <a:ln/>
        </p:spPr>
      </p:sp>
      <p:sp>
        <p:nvSpPr>
          <p:cNvPr id="4" name="Text 2"/>
          <p:cNvSpPr/>
          <p:nvPr/>
        </p:nvSpPr>
        <p:spPr>
          <a:xfrm>
            <a:off x="182880" y="64008"/>
            <a:ext cx="6400800" cy="50292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Core Revenue Management Capabilities</a:t>
            </a:r>
            <a:endParaRPr lang="en-US" sz="2000" dirty="0"/>
          </a:p>
        </p:txBody>
      </p:sp>
      <p:sp>
        <p:nvSpPr>
          <p:cNvPr id="5" name="Text 3"/>
          <p:cNvSpPr/>
          <p:nvPr/>
        </p:nvSpPr>
        <p:spPr>
          <a:xfrm>
            <a:off x="182880" y="548640"/>
            <a:ext cx="8229600" cy="347472"/>
          </a:xfrm>
          <a:prstGeom prst="rect">
            <a:avLst/>
          </a:prstGeom>
          <a:noFill/>
          <a:ln/>
        </p:spPr>
        <p:txBody>
          <a:bodyPr wrap="square" rtlCol="0" anchor="ctr"/>
          <a:lstStyle/>
          <a:p>
            <a:pPr indent="0" marL="0">
              <a:buNone/>
            </a:pPr>
            <a:r>
              <a:rPr lang="en-US" sz="1100" dirty="0">
                <a:solidFill>
                  <a:srgbClr val="73AA87"/>
                </a:solidFill>
                <a:latin typeface="Calibri" pitchFamily="34" charset="0"/>
                <a:ea typeface="Calibri" pitchFamily="34" charset="-122"/>
                <a:cs typeface="Calibri" pitchFamily="34" charset="-120"/>
              </a:rPr>
              <a:t>Group Summary | Roadmap Initiative Overview</a:t>
            </a:r>
            <a:endParaRPr lang="en-US" sz="1100" dirty="0"/>
          </a:p>
        </p:txBody>
      </p:sp>
      <p:sp>
        <p:nvSpPr>
          <p:cNvPr id="6" name="Text 4"/>
          <p:cNvSpPr/>
          <p:nvPr/>
        </p:nvSpPr>
        <p:spPr>
          <a:xfrm>
            <a:off x="6858000" y="73152"/>
            <a:ext cx="2103120" cy="365760"/>
          </a:xfrm>
          <a:prstGeom prst="rect">
            <a:avLst/>
          </a:prstGeom>
          <a:noFill/>
          <a:ln/>
        </p:spPr>
        <p:txBody>
          <a:bodyPr wrap="square" rtlCol="0" anchor="ctr"/>
          <a:lstStyle/>
          <a:p>
            <a:pPr algn="r" indent="0" marL="0">
              <a:buNone/>
            </a:pPr>
            <a:r>
              <a:rPr lang="en-US" sz="1200" b="1" dirty="0">
                <a:solidFill>
                  <a:srgbClr val="73AA87"/>
                </a:solidFill>
                <a:latin typeface="Calibri" pitchFamily="34" charset="0"/>
                <a:ea typeface="Calibri" pitchFamily="34" charset="-122"/>
                <a:cs typeface="Calibri" pitchFamily="34" charset="-120"/>
              </a:rPr>
              <a:t>Netcompany</a:t>
            </a:r>
            <a:endParaRPr lang="en-US" sz="1200" dirty="0"/>
          </a:p>
        </p:txBody>
      </p:sp>
      <p:sp>
        <p:nvSpPr>
          <p:cNvPr id="7" name="Shape 5"/>
          <p:cNvSpPr/>
          <p:nvPr/>
        </p:nvSpPr>
        <p:spPr>
          <a:xfrm>
            <a:off x="0" y="4983480"/>
            <a:ext cx="9144000" cy="160020"/>
          </a:xfrm>
          <a:prstGeom prst="rect">
            <a:avLst/>
          </a:prstGeom>
          <a:solidFill>
            <a:srgbClr val="123836"/>
          </a:solidFill>
          <a:ln/>
        </p:spPr>
      </p:sp>
      <p:sp>
        <p:nvSpPr>
          <p:cNvPr id="8" name="Text 6"/>
          <p:cNvSpPr/>
          <p:nvPr/>
        </p:nvSpPr>
        <p:spPr>
          <a:xfrm>
            <a:off x="137160" y="4974336"/>
            <a:ext cx="6400800" cy="164592"/>
          </a:xfrm>
          <a:prstGeom prst="rect">
            <a:avLst/>
          </a:prstGeom>
          <a:noFill/>
          <a:ln/>
        </p:spPr>
        <p:txBody>
          <a:bodyPr wrap="square" rtlCol="0" anchor="ctr"/>
          <a:lstStyle/>
          <a:p>
            <a:pPr indent="0" marL="0">
              <a:buNone/>
            </a:pPr>
            <a:r>
              <a:rPr lang="en-US" sz="800" dirty="0">
                <a:solidFill>
                  <a:srgbClr val="D0D7D7"/>
                </a:solidFill>
                <a:latin typeface="Calibri" pitchFamily="34" charset="0"/>
                <a:ea typeface="Calibri" pitchFamily="34" charset="-122"/>
                <a:cs typeface="Calibri" pitchFamily="34" charset="-120"/>
              </a:rPr>
              <a:t>Solon Tax Product Roadmap 2026 | SteerCo</a:t>
            </a:r>
            <a:endParaRPr lang="en-US" sz="800" dirty="0"/>
          </a:p>
        </p:txBody>
      </p:sp>
      <p:sp>
        <p:nvSpPr>
          <p:cNvPr id="9" name="Text 7"/>
          <p:cNvSpPr/>
          <p:nvPr/>
        </p:nvSpPr>
        <p:spPr>
          <a:xfrm>
            <a:off x="8686800" y="4974336"/>
            <a:ext cx="365760" cy="164592"/>
          </a:xfrm>
          <a:prstGeom prst="rect">
            <a:avLst/>
          </a:prstGeom>
          <a:noFill/>
          <a:ln/>
        </p:spPr>
        <p:txBody>
          <a:bodyPr wrap="square" rtlCol="0" anchor="ctr"/>
          <a:lstStyle/>
          <a:p>
            <a:pPr algn="r" indent="0" marL="0">
              <a:buNone/>
            </a:pPr>
            <a:r>
              <a:rPr lang="en-US" sz="800" dirty="0">
                <a:solidFill>
                  <a:srgbClr val="D0D7D7"/>
                </a:solidFill>
                <a:latin typeface="Calibri" pitchFamily="34" charset="0"/>
                <a:ea typeface="Calibri" pitchFamily="34" charset="-122"/>
                <a:cs typeface="Calibri" pitchFamily="34" charset="-120"/>
              </a:rPr>
              <a:t>3</a:t>
            </a:r>
            <a:endParaRPr lang="en-US" sz="800" dirty="0"/>
          </a:p>
        </p:txBody>
      </p:sp>
      <p:sp>
        <p:nvSpPr>
          <p:cNvPr id="10" name="Shape 8"/>
          <p:cNvSpPr/>
          <p:nvPr/>
        </p:nvSpPr>
        <p:spPr>
          <a:xfrm>
            <a:off x="228600" y="1005840"/>
            <a:ext cx="2011680" cy="960120"/>
          </a:xfrm>
          <a:prstGeom prst="rect">
            <a:avLst/>
          </a:prstGeom>
          <a:solidFill>
            <a:srgbClr val="123836"/>
          </a:solidFill>
          <a:ln w="12700">
            <a:solidFill>
              <a:srgbClr val="1B5E52"/>
            </a:solidFill>
            <a:prstDash val="solid"/>
          </a:ln>
          <a:effectLst>
            <a:outerShdw sx="100000" sy="100000" kx="0" ky="0" algn="bl" rotWithShape="0" blurRad="50800" dist="25400" dir="8100000">
              <a:srgbClr val="000000">
                <a:alpha val="12000"/>
              </a:srgbClr>
            </a:outerShdw>
          </a:effectLst>
        </p:spPr>
      </p:sp>
      <p:sp>
        <p:nvSpPr>
          <p:cNvPr id="11" name="Shape 9"/>
          <p:cNvSpPr/>
          <p:nvPr/>
        </p:nvSpPr>
        <p:spPr>
          <a:xfrm>
            <a:off x="228600" y="1005840"/>
            <a:ext cx="2011680" cy="54864"/>
          </a:xfrm>
          <a:prstGeom prst="rect">
            <a:avLst/>
          </a:prstGeom>
          <a:solidFill>
            <a:srgbClr val="FF6359"/>
          </a:solidFill>
          <a:ln/>
        </p:spPr>
      </p:sp>
      <p:sp>
        <p:nvSpPr>
          <p:cNvPr id="12" name="Text 10"/>
          <p:cNvSpPr/>
          <p:nvPr/>
        </p:nvSpPr>
        <p:spPr>
          <a:xfrm>
            <a:off x="320040" y="1097280"/>
            <a:ext cx="1828800" cy="460858"/>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~23,200</a:t>
            </a:r>
            <a:endParaRPr lang="en-US" sz="2200" dirty="0"/>
          </a:p>
        </p:txBody>
      </p:sp>
      <p:sp>
        <p:nvSpPr>
          <p:cNvPr id="13" name="Text 11"/>
          <p:cNvSpPr/>
          <p:nvPr/>
        </p:nvSpPr>
        <p:spPr>
          <a:xfrm>
            <a:off x="320040" y="1505102"/>
            <a:ext cx="1828800" cy="201168"/>
          </a:xfrm>
          <a:prstGeom prst="rect">
            <a:avLst/>
          </a:prstGeom>
          <a:noFill/>
          <a:ln/>
        </p:spPr>
        <p:txBody>
          <a:bodyPr wrap="square" rtlCol="0" anchor="ctr"/>
          <a:lstStyle/>
          <a:p>
            <a:pPr algn="ctr" indent="0" marL="0">
              <a:buNone/>
            </a:pPr>
            <a:r>
              <a:rPr lang="en-US" sz="900" dirty="0">
                <a:solidFill>
                  <a:srgbClr val="FFD282"/>
                </a:solidFill>
                <a:latin typeface="Calibri" pitchFamily="34" charset="0"/>
                <a:ea typeface="Calibri" pitchFamily="34" charset="-122"/>
                <a:cs typeface="Calibri" pitchFamily="34" charset="-120"/>
              </a:rPr>
              <a:t>Hours</a:t>
            </a:r>
            <a:endParaRPr lang="en-US" sz="900" dirty="0"/>
          </a:p>
        </p:txBody>
      </p:sp>
      <p:sp>
        <p:nvSpPr>
          <p:cNvPr id="14" name="Text 12"/>
          <p:cNvSpPr/>
          <p:nvPr/>
        </p:nvSpPr>
        <p:spPr>
          <a:xfrm>
            <a:off x="274320" y="1658722"/>
            <a:ext cx="1920240" cy="329184"/>
          </a:xfrm>
          <a:prstGeom prst="rect">
            <a:avLst/>
          </a:prstGeom>
          <a:noFill/>
          <a:ln/>
        </p:spPr>
        <p:txBody>
          <a:bodyPr wrap="square" rtlCol="0" anchor="ctr"/>
          <a:lstStyle/>
          <a:p>
            <a:pPr algn="ctr" indent="0" marL="0">
              <a:buNone/>
            </a:pPr>
            <a:r>
              <a:rPr lang="en-US" sz="900" dirty="0">
                <a:solidFill>
                  <a:srgbClr val="D0D7D7"/>
                </a:solidFill>
                <a:latin typeface="Calibri" pitchFamily="34" charset="0"/>
                <a:ea typeface="Calibri" pitchFamily="34" charset="-122"/>
                <a:cs typeface="Calibri" pitchFamily="34" charset="-120"/>
              </a:rPr>
              <a:t>Total Estimated Effort</a:t>
            </a:r>
            <a:endParaRPr lang="en-US" sz="900" dirty="0"/>
          </a:p>
        </p:txBody>
      </p:sp>
      <p:sp>
        <p:nvSpPr>
          <p:cNvPr id="15" name="Shape 13"/>
          <p:cNvSpPr/>
          <p:nvPr/>
        </p:nvSpPr>
        <p:spPr>
          <a:xfrm>
            <a:off x="2414016" y="1005840"/>
            <a:ext cx="2011680" cy="960120"/>
          </a:xfrm>
          <a:prstGeom prst="rect">
            <a:avLst/>
          </a:prstGeom>
          <a:solidFill>
            <a:srgbClr val="123836"/>
          </a:solidFill>
          <a:ln w="12700">
            <a:solidFill>
              <a:srgbClr val="1B5E52"/>
            </a:solidFill>
            <a:prstDash val="solid"/>
          </a:ln>
          <a:effectLst>
            <a:outerShdw sx="100000" sy="100000" kx="0" ky="0" algn="bl" rotWithShape="0" blurRad="50800" dist="25400" dir="8100000">
              <a:srgbClr val="000000">
                <a:alpha val="12000"/>
              </a:srgbClr>
            </a:outerShdw>
          </a:effectLst>
        </p:spPr>
      </p:sp>
      <p:sp>
        <p:nvSpPr>
          <p:cNvPr id="16" name="Shape 14"/>
          <p:cNvSpPr/>
          <p:nvPr/>
        </p:nvSpPr>
        <p:spPr>
          <a:xfrm>
            <a:off x="2414016" y="1005840"/>
            <a:ext cx="2011680" cy="54864"/>
          </a:xfrm>
          <a:prstGeom prst="rect">
            <a:avLst/>
          </a:prstGeom>
          <a:solidFill>
            <a:srgbClr val="FF6359"/>
          </a:solidFill>
          <a:ln/>
        </p:spPr>
      </p:sp>
      <p:sp>
        <p:nvSpPr>
          <p:cNvPr id="17" name="Text 15"/>
          <p:cNvSpPr/>
          <p:nvPr/>
        </p:nvSpPr>
        <p:spPr>
          <a:xfrm>
            <a:off x="2505456" y="1097280"/>
            <a:ext cx="1828800" cy="460858"/>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6</a:t>
            </a:r>
            <a:endParaRPr lang="en-US" sz="2200" dirty="0"/>
          </a:p>
        </p:txBody>
      </p:sp>
      <p:sp>
        <p:nvSpPr>
          <p:cNvPr id="18" name="Text 16"/>
          <p:cNvSpPr/>
          <p:nvPr/>
        </p:nvSpPr>
        <p:spPr>
          <a:xfrm>
            <a:off x="2505456" y="1505102"/>
            <a:ext cx="1828800" cy="201168"/>
          </a:xfrm>
          <a:prstGeom prst="rect">
            <a:avLst/>
          </a:prstGeom>
          <a:noFill/>
          <a:ln/>
        </p:spPr>
        <p:txBody>
          <a:bodyPr wrap="square" rtlCol="0" anchor="ctr"/>
          <a:lstStyle/>
          <a:p>
            <a:pPr algn="ctr" indent="0" marL="0">
              <a:buNone/>
            </a:pPr>
            <a:r>
              <a:rPr lang="en-US" sz="900" dirty="0">
                <a:solidFill>
                  <a:srgbClr val="FFD282"/>
                </a:solidFill>
                <a:latin typeface="Calibri" pitchFamily="34" charset="0"/>
                <a:ea typeface="Calibri" pitchFamily="34" charset="-122"/>
                <a:cs typeface="Calibri" pitchFamily="34" charset="-120"/>
              </a:rPr>
              <a:t>Count</a:t>
            </a:r>
            <a:endParaRPr lang="en-US" sz="900" dirty="0"/>
          </a:p>
        </p:txBody>
      </p:sp>
      <p:sp>
        <p:nvSpPr>
          <p:cNvPr id="19" name="Text 17"/>
          <p:cNvSpPr/>
          <p:nvPr/>
        </p:nvSpPr>
        <p:spPr>
          <a:xfrm>
            <a:off x="2459736" y="1658722"/>
            <a:ext cx="1920240" cy="329184"/>
          </a:xfrm>
          <a:prstGeom prst="rect">
            <a:avLst/>
          </a:prstGeom>
          <a:noFill/>
          <a:ln/>
        </p:spPr>
        <p:txBody>
          <a:bodyPr wrap="square" rtlCol="0" anchor="ctr"/>
          <a:lstStyle/>
          <a:p>
            <a:pPr algn="ctr" indent="0" marL="0">
              <a:buNone/>
            </a:pPr>
            <a:r>
              <a:rPr lang="en-US" sz="900" dirty="0">
                <a:solidFill>
                  <a:srgbClr val="D0D7D7"/>
                </a:solidFill>
                <a:latin typeface="Calibri" pitchFamily="34" charset="0"/>
                <a:ea typeface="Calibri" pitchFamily="34" charset="-122"/>
                <a:cs typeface="Calibri" pitchFamily="34" charset="-120"/>
              </a:rPr>
              <a:t>Roadmap Initiatives</a:t>
            </a:r>
            <a:endParaRPr lang="en-US" sz="900" dirty="0"/>
          </a:p>
        </p:txBody>
      </p:sp>
      <p:sp>
        <p:nvSpPr>
          <p:cNvPr id="20" name="Shape 18"/>
          <p:cNvSpPr/>
          <p:nvPr/>
        </p:nvSpPr>
        <p:spPr>
          <a:xfrm>
            <a:off x="4599432" y="1005840"/>
            <a:ext cx="2011680" cy="960120"/>
          </a:xfrm>
          <a:prstGeom prst="rect">
            <a:avLst/>
          </a:prstGeom>
          <a:solidFill>
            <a:srgbClr val="123836"/>
          </a:solidFill>
          <a:ln w="12700">
            <a:solidFill>
              <a:srgbClr val="1B5E52"/>
            </a:solidFill>
            <a:prstDash val="solid"/>
          </a:ln>
          <a:effectLst>
            <a:outerShdw sx="100000" sy="100000" kx="0" ky="0" algn="bl" rotWithShape="0" blurRad="50800" dist="25400" dir="8100000">
              <a:srgbClr val="000000">
                <a:alpha val="12000"/>
              </a:srgbClr>
            </a:outerShdw>
          </a:effectLst>
        </p:spPr>
      </p:sp>
      <p:sp>
        <p:nvSpPr>
          <p:cNvPr id="21" name="Shape 19"/>
          <p:cNvSpPr/>
          <p:nvPr/>
        </p:nvSpPr>
        <p:spPr>
          <a:xfrm>
            <a:off x="4599432" y="1005840"/>
            <a:ext cx="2011680" cy="54864"/>
          </a:xfrm>
          <a:prstGeom prst="rect">
            <a:avLst/>
          </a:prstGeom>
          <a:solidFill>
            <a:srgbClr val="FF6359"/>
          </a:solidFill>
          <a:ln/>
        </p:spPr>
      </p:sp>
      <p:sp>
        <p:nvSpPr>
          <p:cNvPr id="22" name="Text 20"/>
          <p:cNvSpPr/>
          <p:nvPr/>
        </p:nvSpPr>
        <p:spPr>
          <a:xfrm>
            <a:off x="4690872" y="1097280"/>
            <a:ext cx="1828800" cy="460858"/>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15</a:t>
            </a:r>
            <a:endParaRPr lang="en-US" sz="2200" dirty="0"/>
          </a:p>
        </p:txBody>
      </p:sp>
      <p:sp>
        <p:nvSpPr>
          <p:cNvPr id="23" name="Text 21"/>
          <p:cNvSpPr/>
          <p:nvPr/>
        </p:nvSpPr>
        <p:spPr>
          <a:xfrm>
            <a:off x="4690872" y="1505102"/>
            <a:ext cx="1828800" cy="201168"/>
          </a:xfrm>
          <a:prstGeom prst="rect">
            <a:avLst/>
          </a:prstGeom>
          <a:noFill/>
          <a:ln/>
        </p:spPr>
        <p:txBody>
          <a:bodyPr wrap="square" rtlCol="0" anchor="ctr"/>
          <a:lstStyle/>
          <a:p>
            <a:pPr algn="ctr" indent="0" marL="0">
              <a:buNone/>
            </a:pPr>
            <a:r>
              <a:rPr lang="en-US" sz="900" dirty="0">
                <a:solidFill>
                  <a:srgbClr val="FFD282"/>
                </a:solidFill>
                <a:latin typeface="Calibri" pitchFamily="34" charset="0"/>
                <a:ea typeface="Calibri" pitchFamily="34" charset="-122"/>
                <a:cs typeface="Calibri" pitchFamily="34" charset="-120"/>
              </a:rPr>
              <a:t>Count</a:t>
            </a:r>
            <a:endParaRPr lang="en-US" sz="900" dirty="0"/>
          </a:p>
        </p:txBody>
      </p:sp>
      <p:sp>
        <p:nvSpPr>
          <p:cNvPr id="24" name="Text 22"/>
          <p:cNvSpPr/>
          <p:nvPr/>
        </p:nvSpPr>
        <p:spPr>
          <a:xfrm>
            <a:off x="4645152" y="1658722"/>
            <a:ext cx="1920240" cy="329184"/>
          </a:xfrm>
          <a:prstGeom prst="rect">
            <a:avLst/>
          </a:prstGeom>
          <a:noFill/>
          <a:ln/>
        </p:spPr>
        <p:txBody>
          <a:bodyPr wrap="square" rtlCol="0" anchor="ctr"/>
          <a:lstStyle/>
          <a:p>
            <a:pPr algn="ctr" indent="0" marL="0">
              <a:buNone/>
            </a:pPr>
            <a:r>
              <a:rPr lang="en-US" sz="900" dirty="0">
                <a:solidFill>
                  <a:srgbClr val="D0D7D7"/>
                </a:solidFill>
                <a:latin typeface="Calibri" pitchFamily="34" charset="0"/>
                <a:ea typeface="Calibri" pitchFamily="34" charset="-122"/>
                <a:cs typeface="Calibri" pitchFamily="34" charset="-120"/>
              </a:rPr>
              <a:t>Features in Scope</a:t>
            </a:r>
            <a:endParaRPr lang="en-US" sz="900" dirty="0"/>
          </a:p>
        </p:txBody>
      </p:sp>
      <p:sp>
        <p:nvSpPr>
          <p:cNvPr id="25" name="Shape 23"/>
          <p:cNvSpPr/>
          <p:nvPr/>
        </p:nvSpPr>
        <p:spPr>
          <a:xfrm>
            <a:off x="6784848" y="1005840"/>
            <a:ext cx="2011680" cy="960120"/>
          </a:xfrm>
          <a:prstGeom prst="rect">
            <a:avLst/>
          </a:prstGeom>
          <a:solidFill>
            <a:srgbClr val="123836"/>
          </a:solidFill>
          <a:ln w="12700">
            <a:solidFill>
              <a:srgbClr val="1B5E52"/>
            </a:solidFill>
            <a:prstDash val="solid"/>
          </a:ln>
          <a:effectLst>
            <a:outerShdw sx="100000" sy="100000" kx="0" ky="0" algn="bl" rotWithShape="0" blurRad="50800" dist="25400" dir="8100000">
              <a:srgbClr val="000000">
                <a:alpha val="12000"/>
              </a:srgbClr>
            </a:outerShdw>
          </a:effectLst>
        </p:spPr>
      </p:sp>
      <p:sp>
        <p:nvSpPr>
          <p:cNvPr id="26" name="Shape 24"/>
          <p:cNvSpPr/>
          <p:nvPr/>
        </p:nvSpPr>
        <p:spPr>
          <a:xfrm>
            <a:off x="6784848" y="1005840"/>
            <a:ext cx="2011680" cy="54864"/>
          </a:xfrm>
          <a:prstGeom prst="rect">
            <a:avLst/>
          </a:prstGeom>
          <a:solidFill>
            <a:srgbClr val="FF6359"/>
          </a:solidFill>
          <a:ln/>
        </p:spPr>
      </p:sp>
      <p:sp>
        <p:nvSpPr>
          <p:cNvPr id="27" name="Text 25"/>
          <p:cNvSpPr/>
          <p:nvPr/>
        </p:nvSpPr>
        <p:spPr>
          <a:xfrm>
            <a:off x="6876288" y="1097280"/>
            <a:ext cx="1828800" cy="460858"/>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PI28</a:t>
            </a:r>
            <a:endParaRPr lang="en-US" sz="2200" dirty="0"/>
          </a:p>
        </p:txBody>
      </p:sp>
      <p:sp>
        <p:nvSpPr>
          <p:cNvPr id="28" name="Text 26"/>
          <p:cNvSpPr/>
          <p:nvPr/>
        </p:nvSpPr>
        <p:spPr>
          <a:xfrm>
            <a:off x="6876288" y="1505102"/>
            <a:ext cx="1828800" cy="201168"/>
          </a:xfrm>
          <a:prstGeom prst="rect">
            <a:avLst/>
          </a:prstGeom>
          <a:noFill/>
          <a:ln/>
        </p:spPr>
        <p:txBody>
          <a:bodyPr wrap="square" rtlCol="0" anchor="ctr"/>
          <a:lstStyle/>
          <a:p>
            <a:pPr algn="ctr" indent="0" marL="0">
              <a:buNone/>
            </a:pPr>
            <a:r>
              <a:rPr lang="en-US" sz="900" dirty="0">
                <a:solidFill>
                  <a:srgbClr val="FFD282"/>
                </a:solidFill>
                <a:latin typeface="Calibri" pitchFamily="34" charset="0"/>
                <a:ea typeface="Calibri" pitchFamily="34" charset="-122"/>
                <a:cs typeface="Calibri" pitchFamily="34" charset="-120"/>
              </a:rPr>
              <a:t>Program Increment</a:t>
            </a:r>
            <a:endParaRPr lang="en-US" sz="900" dirty="0"/>
          </a:p>
        </p:txBody>
      </p:sp>
      <p:sp>
        <p:nvSpPr>
          <p:cNvPr id="29" name="Text 27"/>
          <p:cNvSpPr/>
          <p:nvPr/>
        </p:nvSpPr>
        <p:spPr>
          <a:xfrm>
            <a:off x="6830568" y="1658722"/>
            <a:ext cx="1920240" cy="329184"/>
          </a:xfrm>
          <a:prstGeom prst="rect">
            <a:avLst/>
          </a:prstGeom>
          <a:noFill/>
          <a:ln/>
        </p:spPr>
        <p:txBody>
          <a:bodyPr wrap="square" rtlCol="0" anchor="ctr"/>
          <a:lstStyle/>
          <a:p>
            <a:pPr algn="ctr" indent="0" marL="0">
              <a:buNone/>
            </a:pPr>
            <a:r>
              <a:rPr lang="en-US" sz="900" dirty="0">
                <a:solidFill>
                  <a:srgbClr val="D0D7D7"/>
                </a:solidFill>
                <a:latin typeface="Calibri" pitchFamily="34" charset="0"/>
                <a:ea typeface="Calibri" pitchFamily="34" charset="-122"/>
                <a:cs typeface="Calibri" pitchFamily="34" charset="-120"/>
              </a:rPr>
              <a:t>Primary PI Window</a:t>
            </a:r>
            <a:endParaRPr lang="en-US" sz="900" dirty="0"/>
          </a:p>
        </p:txBody>
      </p:sp>
      <p:sp>
        <p:nvSpPr>
          <p:cNvPr id="30" name="Text 28"/>
          <p:cNvSpPr/>
          <p:nvPr/>
        </p:nvSpPr>
        <p:spPr>
          <a:xfrm>
            <a:off x="228600" y="2103120"/>
            <a:ext cx="3291840" cy="256032"/>
          </a:xfrm>
          <a:prstGeom prst="rect">
            <a:avLst/>
          </a:prstGeom>
          <a:noFill/>
          <a:ln/>
        </p:spPr>
        <p:txBody>
          <a:bodyPr wrap="square" rtlCol="0" anchor="ctr"/>
          <a:lstStyle/>
          <a:p>
            <a:pPr indent="0" marL="0">
              <a:buNone/>
            </a:pPr>
            <a:r>
              <a:rPr lang="en-US" sz="1000" b="1" dirty="0">
                <a:solidFill>
                  <a:srgbClr val="FF6359"/>
                </a:solidFill>
              </a:rPr>
              <a:t>Business Scope</a:t>
            </a:r>
            <a:endParaRPr lang="en-US" sz="1000" dirty="0"/>
          </a:p>
        </p:txBody>
      </p:sp>
      <p:sp>
        <p:nvSpPr>
          <p:cNvPr id="31" name="Text 29"/>
          <p:cNvSpPr/>
          <p:nvPr/>
        </p:nvSpPr>
        <p:spPr>
          <a:xfrm>
            <a:off x="228600" y="2377440"/>
            <a:ext cx="3291840" cy="777240"/>
          </a:xfrm>
          <a:prstGeom prst="rect">
            <a:avLst/>
          </a:prstGeom>
          <a:noFill/>
          <a:ln/>
        </p:spPr>
        <p:txBody>
          <a:bodyPr wrap="square" rtlCol="0" anchor="ctr"/>
          <a:lstStyle/>
          <a:p>
            <a:pPr indent="0" marL="0">
              <a:buNone/>
            </a:pPr>
            <a:r>
              <a:rPr lang="en-US" sz="1000" dirty="0">
                <a:solidFill>
                  <a:srgbClr val="141E1E"/>
                </a:solidFill>
              </a:rPr>
              <a:t>Covers the foundational tax administration functions enabling tax authorities to manage the full lifecycle of taxpayer obligations — from registration and filing through billing, assessment, accounting, and penalty management.</a:t>
            </a:r>
            <a:endParaRPr lang="en-US" sz="1000" dirty="0"/>
          </a:p>
        </p:txBody>
      </p:sp>
      <p:sp>
        <p:nvSpPr>
          <p:cNvPr id="32" name="Text 30"/>
          <p:cNvSpPr/>
          <p:nvPr/>
        </p:nvSpPr>
        <p:spPr>
          <a:xfrm>
            <a:off x="228600" y="3200400"/>
            <a:ext cx="3291840" cy="256032"/>
          </a:xfrm>
          <a:prstGeom prst="rect">
            <a:avLst/>
          </a:prstGeom>
          <a:noFill/>
          <a:ln/>
        </p:spPr>
        <p:txBody>
          <a:bodyPr wrap="square" rtlCol="0" anchor="ctr"/>
          <a:lstStyle/>
          <a:p>
            <a:pPr indent="0" marL="0">
              <a:buNone/>
            </a:pPr>
            <a:r>
              <a:rPr lang="en-US" sz="1000" b="1" dirty="0">
                <a:solidFill>
                  <a:srgbClr val="FF6359"/>
                </a:solidFill>
              </a:rPr>
              <a:t>Market Needs &amp; Investment Benefits</a:t>
            </a:r>
            <a:endParaRPr lang="en-US" sz="1000" dirty="0"/>
          </a:p>
        </p:txBody>
      </p:sp>
      <p:sp>
        <p:nvSpPr>
          <p:cNvPr id="33" name="Text 31"/>
          <p:cNvSpPr/>
          <p:nvPr/>
        </p:nvSpPr>
        <p:spPr>
          <a:xfrm>
            <a:off x="228600" y="3493008"/>
            <a:ext cx="3291840" cy="1417320"/>
          </a:xfrm>
          <a:prstGeom prst="rect">
            <a:avLst/>
          </a:prstGeom>
          <a:noFill/>
          <a:ln/>
        </p:spPr>
        <p:txBody>
          <a:bodyPr wrap="square" rtlCol="0" anchor="ctr"/>
          <a:lstStyle/>
          <a:p>
            <a:pPr marL="342900" indent="-342900">
              <a:buSzPct val="100000"/>
              <a:buChar char="•"/>
            </a:pPr>
            <a:r>
              <a:rPr lang="en-US" sz="900" dirty="0">
                <a:solidFill>
                  <a:srgbClr val="4A5C5A"/>
                </a:solidFill>
              </a:rPr>
              <a:t>End-to-end taxpayer lifecycle management reduces administrative burden and manual errors</a:t>
            </a:r>
            <a:endParaRPr lang="en-US" sz="900" dirty="0"/>
          </a:p>
          <a:p>
            <a:pPr marL="342900" indent="-342900">
              <a:buSzPct val="100000"/>
              <a:buChar char="•"/>
            </a:pPr>
            <a:r>
              <a:rPr lang="en-US" sz="900" dirty="0">
                <a:solidFill>
                  <a:srgbClr val="4A5C5A"/>
                </a:solidFill>
              </a:rPr>
              <a:t>Automated penalty and interest calculations improve collection rates and reduce revenue leakage</a:t>
            </a:r>
            <a:endParaRPr lang="en-US" sz="900" dirty="0"/>
          </a:p>
          <a:p>
            <a:pPr marL="342900" indent="-342900">
              <a:buSzPct val="100000"/>
              <a:buChar char="•"/>
            </a:pPr>
            <a:r>
              <a:rPr lang="en-US" sz="900" dirty="0">
                <a:solidFill>
                  <a:srgbClr val="4A5C5A"/>
                </a:solidFill>
              </a:rPr>
              <a:t>Modular capability design allows onboarding of new tax types with minimal reconfiguration</a:t>
            </a:r>
            <a:endParaRPr lang="en-US" sz="900" dirty="0"/>
          </a:p>
          <a:p>
            <a:pPr marL="342900" indent="-342900">
              <a:buSzPct val="100000"/>
              <a:buChar char="•"/>
            </a:pPr>
            <a:r>
              <a:rPr lang="en-US" sz="900" dirty="0">
                <a:solidFill>
                  <a:srgbClr val="4A5C5A"/>
                </a:solidFill>
              </a:rPr>
              <a:t>Streamlined registration and billing processes reduce case handling time for tax officers</a:t>
            </a:r>
            <a:endParaRPr lang="en-US" sz="900" dirty="0"/>
          </a:p>
          <a:p>
            <a:pPr marL="342900" indent="-342900">
              <a:buSzPct val="100000"/>
              <a:buChar char="•"/>
            </a:pPr>
            <a:r>
              <a:rPr lang="en-US" sz="900" dirty="0">
                <a:solidFill>
                  <a:srgbClr val="4A5C5A"/>
                </a:solidFill>
              </a:rPr>
              <a:t>Supports regulatory compliance including audit trails and operational reporting</a:t>
            </a:r>
            <a:endParaRPr lang="en-US" sz="900" dirty="0"/>
          </a:p>
        </p:txBody>
      </p:sp>
      <p:sp>
        <p:nvSpPr>
          <p:cNvPr id="34" name="Text 32"/>
          <p:cNvSpPr/>
          <p:nvPr/>
        </p:nvSpPr>
        <p:spPr>
          <a:xfrm>
            <a:off x="3611880" y="2103120"/>
            <a:ext cx="2468880" cy="256032"/>
          </a:xfrm>
          <a:prstGeom prst="rect">
            <a:avLst/>
          </a:prstGeom>
          <a:noFill/>
          <a:ln/>
        </p:spPr>
        <p:txBody>
          <a:bodyPr wrap="square" rtlCol="0" anchor="ctr"/>
          <a:lstStyle/>
          <a:p>
            <a:pPr indent="0" marL="0">
              <a:buNone/>
            </a:pPr>
            <a:r>
              <a:rPr lang="en-US" sz="1000" b="1" dirty="0">
                <a:solidFill>
                  <a:srgbClr val="FF6359"/>
                </a:solidFill>
              </a:rPr>
              <a:t>Status Distribution</a:t>
            </a:r>
            <a:endParaRPr lang="en-US" sz="1000" dirty="0"/>
          </a:p>
        </p:txBody>
      </p:sp>
      <p:graphicFrame>
        <p:nvGraphicFramePr>
          <p:cNvPr id="35" name="Chart 0" descr=""/>
          <p:cNvGraphicFramePr/>
          <p:nvPr/>
        </p:nvGraphicFramePr>
        <p:xfrm>
          <a:off x="3611880" y="2377440"/>
          <a:ext cx="2468880" cy="1554480"/>
        </p:xfrm>
        <a:graphic xmlns:a="http://schemas.openxmlformats.org/drawingml/2006/main">
          <a:graphicData uri="http://schemas.openxmlformats.org/drawingml/2006/chart">
            <c:chart xmlns:c="http://schemas.openxmlformats.org/drawingml/2006/chart" r:id="rId1"/>
          </a:graphicData>
        </a:graphic>
      </p:graphicFrame>
      <p:sp>
        <p:nvSpPr>
          <p:cNvPr id="36" name="Text 33"/>
          <p:cNvSpPr/>
          <p:nvPr/>
        </p:nvSpPr>
        <p:spPr>
          <a:xfrm>
            <a:off x="6172200" y="2103120"/>
            <a:ext cx="2743200" cy="256032"/>
          </a:xfrm>
          <a:prstGeom prst="rect">
            <a:avLst/>
          </a:prstGeom>
          <a:noFill/>
          <a:ln/>
        </p:spPr>
        <p:txBody>
          <a:bodyPr wrap="square" rtlCol="0" anchor="ctr"/>
          <a:lstStyle/>
          <a:p>
            <a:pPr indent="0" marL="0">
              <a:buNone/>
            </a:pPr>
            <a:r>
              <a:rPr lang="en-US" sz="1000" b="1" dirty="0">
                <a:solidFill>
                  <a:srgbClr val="FF6359"/>
                </a:solidFill>
              </a:rPr>
              <a:t>Roadmap Initiatives at a Glance</a:t>
            </a:r>
            <a:endParaRPr lang="en-US" sz="1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172200" y="2395728"/>
          <a:ext cx="2743200" cy="2651760"/>
        </p:xfrm>
        <a:graphic>
          <a:graphicData uri="http://schemas.openxmlformats.org/drawingml/2006/table">
            <a:tbl>
              <a:tblPr/>
              <a:tblGrid>
                <a:gridCol w="1143000"/>
                <a:gridCol w="566928"/>
                <a:gridCol w="347472"/>
                <a:gridCol w="384048"/>
                <a:gridCol w="301752"/>
              </a:tblGrid>
              <a:tr h="378823">
                <a:tc>
                  <a:txBody>
                    <a:bodyPr/>
                    <a:lstStyle/>
                    <a:p>
                      <a:pPr indent="0" marL="0">
                        <a:buNone/>
                      </a:pPr>
                      <a:r>
                        <a:rPr lang="en-US" sz="1200" b="1" dirty="0">
                          <a:solidFill>
                            <a:srgbClr val="FFFFFF"/>
                          </a:solidFill>
                        </a:rPr>
                        <a:t>Initiative</a:t>
                      </a:r>
                      <a:endParaRPr lang="en-US" sz="1200" dirty="0"/>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solidFill>
                      <a:srgbClr val="123836"/>
                    </a:solidFill>
                  </a:tcPr>
                </a:tc>
                <a:tc>
                  <a:txBody>
                    <a:bodyPr/>
                    <a:lstStyle/>
                    <a:p>
                      <a:pPr algn="ctr" indent="0" marL="0">
                        <a:buNone/>
                      </a:pPr>
                      <a:r>
                        <a:rPr lang="en-US" sz="1200" b="1" dirty="0">
                          <a:solidFill>
                            <a:srgbClr val="FFFFFF"/>
                          </a:solidFill>
                        </a:rPr>
                        <a:t>Effort (H)</a:t>
                      </a:r>
                      <a:endParaRPr lang="en-US" sz="1200" dirty="0"/>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solidFill>
                      <a:srgbClr val="123836"/>
                    </a:solidFill>
                  </a:tcPr>
                </a:tc>
                <a:tc>
                  <a:txBody>
                    <a:bodyPr/>
                    <a:lstStyle/>
                    <a:p>
                      <a:pPr algn="ctr" indent="0" marL="0">
                        <a:buNone/>
                      </a:pPr>
                      <a:r>
                        <a:rPr lang="en-US" sz="1200" b="1" dirty="0">
                          <a:solidFill>
                            <a:srgbClr val="FFFFFF"/>
                          </a:solidFill>
                        </a:rPr>
                        <a:t>Feats</a:t>
                      </a:r>
                      <a:endParaRPr lang="en-US" sz="1200" dirty="0"/>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solidFill>
                      <a:srgbClr val="123836"/>
                    </a:solidFill>
                  </a:tcPr>
                </a:tc>
                <a:tc>
                  <a:txBody>
                    <a:bodyPr/>
                    <a:lstStyle/>
                    <a:p>
                      <a:pPr algn="ctr" indent="0" marL="0">
                        <a:buNone/>
                      </a:pPr>
                      <a:r>
                        <a:rPr lang="en-US" sz="1200" b="1" dirty="0">
                          <a:solidFill>
                            <a:srgbClr val="FFFFFF"/>
                          </a:solidFill>
                        </a:rPr>
                        <a:t>PI</a:t>
                      </a:r>
                      <a:endParaRPr lang="en-US" sz="1200" dirty="0"/>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solidFill>
                      <a:srgbClr val="123836"/>
                    </a:solidFill>
                  </a:tcPr>
                </a:tc>
                <a:tc>
                  <a:txBody>
                    <a:bodyPr/>
                    <a:lstStyle/>
                    <a:p>
                      <a:pPr algn="ctr" indent="0" marL="0">
                        <a:buNone/>
                      </a:pPr>
                      <a:r>
                        <a:rPr lang="en-US" sz="1200" b="1" dirty="0">
                          <a:solidFill>
                            <a:srgbClr val="FFFFFF"/>
                          </a:solidFill>
                        </a:rPr>
                        <a:t>Prio</a:t>
                      </a:r>
                      <a:endParaRPr lang="en-US" sz="1200" dirty="0"/>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solidFill>
                      <a:srgbClr val="123836"/>
                    </a:solidFill>
                  </a:tcPr>
                </a:tc>
              </a:tr>
              <a:tr h="378823">
                <a:tc>
                  <a:txBody>
                    <a:bodyPr/>
                    <a:lstStyle/>
                    <a:p>
                      <a:pPr indent="0" marL="0">
                        <a:buNone/>
                      </a:pPr>
                      <a:r>
                        <a:rPr lang="en-US" sz="1200" dirty="0">
                          <a:solidFill>
                            <a:srgbClr val="000000"/>
                          </a:solidFill>
                        </a:rPr>
                        <a:t>Registration</a:t>
                      </a:r>
                      <a:endParaRPr lang="en-US" sz="1200" dirty="0"/>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tcPr>
                </a:tc>
                <a:tc>
                  <a:txBody>
                    <a:bodyPr/>
                    <a:lstStyle/>
                    <a:p>
                      <a:pPr algn="ctr" indent="0" marL="0">
                        <a:buNone/>
                      </a:pPr>
                      <a:r>
                        <a:rPr lang="en-US" sz="1200" dirty="0">
                          <a:solidFill>
                            <a:srgbClr val="000000"/>
                          </a:solidFill>
                        </a:rPr>
                        <a:t>11,866</a:t>
                      </a:r>
                      <a:endParaRPr lang="en-US" sz="1200" dirty="0"/>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tcPr>
                </a:tc>
                <a:tc>
                  <a:txBody>
                    <a:bodyPr/>
                    <a:lstStyle/>
                    <a:p>
                      <a:pPr algn="ctr" indent="0" marL="0">
                        <a:buNone/>
                      </a:pPr>
                      <a:r>
                        <a:rPr lang="en-US" sz="1200" dirty="0">
                          <a:solidFill>
                            <a:srgbClr val="000000"/>
                          </a:solidFill>
                        </a:rPr>
                        <a:t>6</a:t>
                      </a:r>
                      <a:endParaRPr lang="en-US" sz="1200" dirty="0"/>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tcPr>
                </a:tc>
                <a:tc>
                  <a:txBody>
                    <a:bodyPr/>
                    <a:lstStyle/>
                    <a:p>
                      <a:pPr algn="ctr" indent="0" marL="0">
                        <a:buNone/>
                      </a:pPr>
                      <a:r>
                        <a:rPr lang="en-US" sz="1200" dirty="0">
                          <a:solidFill>
                            <a:srgbClr val="000000"/>
                          </a:solidFill>
                        </a:rPr>
                        <a:t>PI27-29</a:t>
                      </a:r>
                      <a:endParaRPr lang="en-US" sz="1200" dirty="0"/>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tcPr>
                </a:tc>
                <a:tc>
                  <a:txBody>
                    <a:bodyPr/>
                    <a:lstStyle/>
                    <a:p>
                      <a:pPr algn="ctr" indent="0" marL="0">
                        <a:buNone/>
                      </a:pPr>
                      <a:r>
                        <a:rPr lang="en-US" sz="1200" dirty="0">
                          <a:solidFill>
                            <a:srgbClr val="000000"/>
                          </a:solidFill>
                        </a:rPr>
                        <a:t>P1</a:t>
                      </a:r>
                      <a:endParaRPr lang="en-US" sz="1200" dirty="0"/>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tcPr>
                </a:tc>
              </a:tr>
              <a:tr h="378823">
                <a:tc>
                  <a:txBody>
                    <a:bodyPr/>
                    <a:lstStyle/>
                    <a:p>
                      <a:pPr indent="0" marL="0">
                        <a:buNone/>
                      </a:pPr>
                      <a:r>
                        <a:rPr lang="en-US" sz="1200" dirty="0">
                          <a:solidFill>
                            <a:srgbClr val="000000"/>
                          </a:solidFill>
                        </a:rPr>
                        <a:t>Taxpayer Accounting</a:t>
                      </a:r>
                      <a:endParaRPr lang="en-US" sz="1200" dirty="0"/>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tcPr>
                </a:tc>
                <a:tc>
                  <a:txBody>
                    <a:bodyPr/>
                    <a:lstStyle/>
                    <a:p>
                      <a:pPr algn="ctr" indent="0" marL="0">
                        <a:buNone/>
                      </a:pPr>
                      <a:r>
                        <a:rPr lang="en-US" sz="1200" dirty="0">
                          <a:solidFill>
                            <a:srgbClr val="000000"/>
                          </a:solidFill>
                        </a:rPr>
                        <a:t>8,064</a:t>
                      </a:r>
                      <a:endParaRPr lang="en-US" sz="1200" dirty="0"/>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tcPr>
                </a:tc>
                <a:tc>
                  <a:txBody>
                    <a:bodyPr/>
                    <a:lstStyle/>
                    <a:p>
                      <a:pPr algn="ctr" indent="0" marL="0">
                        <a:buNone/>
                      </a:pPr>
                      <a:r>
                        <a:rPr lang="en-US" sz="1200" dirty="0">
                          <a:solidFill>
                            <a:srgbClr val="000000"/>
                          </a:solidFill>
                        </a:rPr>
                        <a:t>4</a:t>
                      </a:r>
                      <a:endParaRPr lang="en-US" sz="1200" dirty="0"/>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tcPr>
                </a:tc>
                <a:tc>
                  <a:txBody>
                    <a:bodyPr/>
                    <a:lstStyle/>
                    <a:p>
                      <a:pPr algn="ctr" indent="0" marL="0">
                        <a:buNone/>
                      </a:pPr>
                      <a:r>
                        <a:rPr lang="en-US" sz="1200" dirty="0">
                          <a:solidFill>
                            <a:srgbClr val="000000"/>
                          </a:solidFill>
                        </a:rPr>
                        <a:t>PI28-29</a:t>
                      </a:r>
                      <a:endParaRPr lang="en-US" sz="1200" dirty="0"/>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tcPr>
                </a:tc>
                <a:tc>
                  <a:txBody>
                    <a:bodyPr/>
                    <a:lstStyle/>
                    <a:p>
                      <a:pPr algn="ctr" indent="0" marL="0">
                        <a:buNone/>
                      </a:pPr>
                      <a:r>
                        <a:rPr lang="en-US" sz="1200" dirty="0">
                          <a:solidFill>
                            <a:srgbClr val="000000"/>
                          </a:solidFill>
                        </a:rPr>
                        <a:t>P1</a:t>
                      </a:r>
                      <a:endParaRPr lang="en-US" sz="1200" dirty="0"/>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tcPr>
                </a:tc>
              </a:tr>
              <a:tr h="378823">
                <a:tc>
                  <a:txBody>
                    <a:bodyPr/>
                    <a:lstStyle/>
                    <a:p>
                      <a:pPr indent="0" marL="0">
                        <a:buNone/>
                      </a:pPr>
                      <a:r>
                        <a:rPr lang="en-US" sz="1200" dirty="0">
                          <a:solidFill>
                            <a:srgbClr val="000000"/>
                          </a:solidFill>
                        </a:rPr>
                        <a:t>Billing &amp; Assessments</a:t>
                      </a:r>
                      <a:endParaRPr lang="en-US" sz="1200" dirty="0"/>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tcPr>
                </a:tc>
                <a:tc>
                  <a:txBody>
                    <a:bodyPr/>
                    <a:lstStyle/>
                    <a:p>
                      <a:pPr algn="ctr" indent="0" marL="0">
                        <a:buNone/>
                      </a:pPr>
                      <a:r>
                        <a:rPr lang="en-US" sz="1200" dirty="0">
                          <a:solidFill>
                            <a:srgbClr val="000000"/>
                          </a:solidFill>
                        </a:rPr>
                        <a:t>2,880</a:t>
                      </a:r>
                      <a:endParaRPr lang="en-US" sz="1200" dirty="0"/>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tcPr>
                </a:tc>
                <a:tc>
                  <a:txBody>
                    <a:bodyPr/>
                    <a:lstStyle/>
                    <a:p>
                      <a:pPr algn="ctr" indent="0" marL="0">
                        <a:buNone/>
                      </a:pPr>
                      <a:r>
                        <a:rPr lang="en-US" sz="1200" dirty="0">
                          <a:solidFill>
                            <a:srgbClr val="000000"/>
                          </a:solidFill>
                        </a:rPr>
                        <a:t>3</a:t>
                      </a:r>
                      <a:endParaRPr lang="en-US" sz="1200" dirty="0"/>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tcPr>
                </a:tc>
                <a:tc>
                  <a:txBody>
                    <a:bodyPr/>
                    <a:lstStyle/>
                    <a:p>
                      <a:pPr algn="ctr" indent="0" marL="0">
                        <a:buNone/>
                      </a:pPr>
                      <a:r>
                        <a:rPr lang="en-US" sz="1200" dirty="0">
                          <a:solidFill>
                            <a:srgbClr val="000000"/>
                          </a:solidFill>
                        </a:rPr>
                        <a:t>PI28-29</a:t>
                      </a:r>
                      <a:endParaRPr lang="en-US" sz="1200" dirty="0"/>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tcPr>
                </a:tc>
                <a:tc>
                  <a:txBody>
                    <a:bodyPr/>
                    <a:lstStyle/>
                    <a:p>
                      <a:pPr algn="ctr" indent="0" marL="0">
                        <a:buNone/>
                      </a:pPr>
                      <a:r>
                        <a:rPr lang="en-US" sz="1200" dirty="0">
                          <a:solidFill>
                            <a:srgbClr val="000000"/>
                          </a:solidFill>
                        </a:rPr>
                        <a:t>P1-2</a:t>
                      </a:r>
                      <a:endParaRPr lang="en-US" sz="1200" dirty="0"/>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tcPr>
                </a:tc>
              </a:tr>
              <a:tr h="378823">
                <a:tc>
                  <a:txBody>
                    <a:bodyPr/>
                    <a:lstStyle/>
                    <a:p>
                      <a:pPr indent="0" marL="0">
                        <a:buNone/>
                      </a:pPr>
                      <a:r>
                        <a:rPr lang="en-US" sz="1200" dirty="0">
                          <a:solidFill>
                            <a:srgbClr val="000000"/>
                          </a:solidFill>
                        </a:rPr>
                        <a:t>Exemptions</a:t>
                      </a:r>
                      <a:endParaRPr lang="en-US" sz="1200" dirty="0"/>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tcPr>
                </a:tc>
                <a:tc>
                  <a:txBody>
                    <a:bodyPr/>
                    <a:lstStyle/>
                    <a:p>
                      <a:pPr algn="ctr" indent="0" marL="0">
                        <a:buNone/>
                      </a:pPr>
                      <a:r>
                        <a:rPr lang="en-US" sz="1200" dirty="0">
                          <a:solidFill>
                            <a:srgbClr val="000000"/>
                          </a:solidFill>
                        </a:rPr>
                        <a:t>390</a:t>
                      </a:r>
                      <a:endParaRPr lang="en-US" sz="1200" dirty="0"/>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tcPr>
                </a:tc>
                <a:tc>
                  <a:txBody>
                    <a:bodyPr/>
                    <a:lstStyle/>
                    <a:p>
                      <a:pPr algn="ctr" indent="0" marL="0">
                        <a:buNone/>
                      </a:pPr>
                      <a:r>
                        <a:rPr lang="en-US" sz="1200" dirty="0">
                          <a:solidFill>
                            <a:srgbClr val="000000"/>
                          </a:solidFill>
                        </a:rPr>
                        <a:t>1</a:t>
                      </a:r>
                      <a:endParaRPr lang="en-US" sz="1200" dirty="0"/>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tcPr>
                </a:tc>
                <a:tc>
                  <a:txBody>
                    <a:bodyPr/>
                    <a:lstStyle/>
                    <a:p>
                      <a:pPr algn="ctr" indent="0" marL="0">
                        <a:buNone/>
                      </a:pPr>
                      <a:r>
                        <a:rPr lang="en-US" sz="1200" dirty="0">
                          <a:solidFill>
                            <a:srgbClr val="000000"/>
                          </a:solidFill>
                        </a:rPr>
                        <a:t>PI28</a:t>
                      </a:r>
                      <a:endParaRPr lang="en-US" sz="1200" dirty="0"/>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tcPr>
                </a:tc>
                <a:tc>
                  <a:txBody>
                    <a:bodyPr/>
                    <a:lstStyle/>
                    <a:p>
                      <a:pPr algn="ctr" indent="0" marL="0">
                        <a:buNone/>
                      </a:pPr>
                      <a:r>
                        <a:rPr lang="en-US" sz="1200" dirty="0">
                          <a:solidFill>
                            <a:srgbClr val="000000"/>
                          </a:solidFill>
                        </a:rPr>
                        <a:t>P2</a:t>
                      </a:r>
                      <a:endParaRPr lang="en-US" sz="1200" dirty="0"/>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tcPr>
                </a:tc>
              </a:tr>
              <a:tr h="378823">
                <a:tc>
                  <a:txBody>
                    <a:bodyPr/>
                    <a:lstStyle/>
                    <a:p>
                      <a:pPr indent="0" marL="0">
                        <a:buNone/>
                      </a:pPr>
                      <a:r>
                        <a:rPr lang="en-US" sz="1200" dirty="0">
                          <a:solidFill>
                            <a:srgbClr val="000000"/>
                          </a:solidFill>
                        </a:rPr>
                        <a:t>Penalty &amp; Interest</a:t>
                      </a:r>
                      <a:endParaRPr lang="en-US" sz="1200" dirty="0"/>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tcPr>
                </a:tc>
                <a:tc>
                  <a:txBody>
                    <a:bodyPr/>
                    <a:lstStyle/>
                    <a:p>
                      <a:pPr algn="ctr" indent="0" marL="0">
                        <a:buNone/>
                      </a:pPr>
                      <a:r>
                        <a:rPr lang="en-US" sz="1200" dirty="0">
                          <a:solidFill>
                            <a:srgbClr val="000000"/>
                          </a:solidFill>
                        </a:rPr>
                        <a:t>TBD</a:t>
                      </a:r>
                      <a:endParaRPr lang="en-US" sz="1200" dirty="0"/>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tcPr>
                </a:tc>
                <a:tc>
                  <a:txBody>
                    <a:bodyPr/>
                    <a:lstStyle/>
                    <a:p>
                      <a:pPr algn="ctr" indent="0" marL="0">
                        <a:buNone/>
                      </a:pPr>
                      <a:r>
                        <a:rPr lang="en-US" sz="1200" dirty="0">
                          <a:solidFill>
                            <a:srgbClr val="000000"/>
                          </a:solidFill>
                        </a:rPr>
                        <a:t>1</a:t>
                      </a:r>
                      <a:endParaRPr lang="en-US" sz="1200" dirty="0"/>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tcPr>
                </a:tc>
                <a:tc>
                  <a:txBody>
                    <a:bodyPr/>
                    <a:lstStyle/>
                    <a:p>
                      <a:pPr algn="ctr" indent="0" marL="0">
                        <a:buNone/>
                      </a:pPr>
                      <a:r>
                        <a:rPr lang="en-US" sz="1200" dirty="0">
                          <a:solidFill>
                            <a:srgbClr val="000000"/>
                          </a:solidFill>
                        </a:rPr>
                        <a:t>PI28-29</a:t>
                      </a:r>
                      <a:endParaRPr lang="en-US" sz="1200" dirty="0"/>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tcPr>
                </a:tc>
                <a:tc>
                  <a:txBody>
                    <a:bodyPr/>
                    <a:lstStyle/>
                    <a:p>
                      <a:pPr algn="ctr" indent="0" marL="0">
                        <a:buNone/>
                      </a:pPr>
                      <a:r>
                        <a:rPr lang="en-US" sz="1200" dirty="0">
                          <a:solidFill>
                            <a:srgbClr val="000000"/>
                          </a:solidFill>
                        </a:rPr>
                        <a:t>P2</a:t>
                      </a:r>
                      <a:endParaRPr lang="en-US" sz="1200" dirty="0"/>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tcPr>
                </a:tc>
              </a:tr>
              <a:tr h="378823">
                <a:tc>
                  <a:txBody>
                    <a:bodyPr/>
                    <a:lstStyle/>
                    <a:p>
                      <a:pPr indent="0" marL="0">
                        <a:buNone/>
                      </a:pPr>
                      <a:r>
                        <a:rPr lang="en-US" sz="1200" dirty="0">
                          <a:solidFill>
                            <a:srgbClr val="000000"/>
                          </a:solidFill>
                        </a:rPr>
                        <a:t>Tax Accounts</a:t>
                      </a:r>
                      <a:endParaRPr lang="en-US" sz="1200" dirty="0"/>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tcPr>
                </a:tc>
                <a:tc>
                  <a:txBody>
                    <a:bodyPr/>
                    <a:lstStyle/>
                    <a:p>
                      <a:pPr algn="ctr" indent="0" marL="0">
                        <a:buNone/>
                      </a:pPr>
                      <a:r>
                        <a:rPr lang="en-US" sz="1200" dirty="0">
                          <a:solidFill>
                            <a:srgbClr val="000000"/>
                          </a:solidFill>
                        </a:rPr>
                        <a:t>TBD</a:t>
                      </a:r>
                      <a:endParaRPr lang="en-US" sz="1200" dirty="0"/>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tcPr>
                </a:tc>
                <a:tc>
                  <a:txBody>
                    <a:bodyPr/>
                    <a:lstStyle/>
                    <a:p>
                      <a:pPr algn="ctr" indent="0" marL="0">
                        <a:buNone/>
                      </a:pPr>
                      <a:r>
                        <a:rPr lang="en-US" sz="1200" dirty="0">
                          <a:solidFill>
                            <a:srgbClr val="000000"/>
                          </a:solidFill>
                        </a:rPr>
                        <a:t>1</a:t>
                      </a:r>
                      <a:endParaRPr lang="en-US" sz="1200" dirty="0"/>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tcPr>
                </a:tc>
                <a:tc>
                  <a:txBody>
                    <a:bodyPr/>
                    <a:lstStyle/>
                    <a:p>
                      <a:pPr algn="ctr" indent="0" marL="0">
                        <a:buNone/>
                      </a:pPr>
                      <a:r>
                        <a:rPr lang="en-US" sz="1200" dirty="0">
                          <a:solidFill>
                            <a:srgbClr val="000000"/>
                          </a:solidFill>
                        </a:rPr>
                        <a:t>PI28-29</a:t>
                      </a:r>
                      <a:endParaRPr lang="en-US" sz="1200" dirty="0"/>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tcPr>
                </a:tc>
                <a:tc>
                  <a:txBody>
                    <a:bodyPr/>
                    <a:lstStyle/>
                    <a:p>
                      <a:pPr algn="ctr" indent="0" marL="0">
                        <a:buNone/>
                      </a:pPr>
                      <a:r>
                        <a:rPr lang="en-US" sz="1200" dirty="0">
                          <a:solidFill>
                            <a:srgbClr val="000000"/>
                          </a:solidFill>
                        </a:rPr>
                        <a:t>P1</a:t>
                      </a:r>
                      <a:endParaRPr lang="en-US" sz="1200" dirty="0"/>
                    </a:p>
                  </a:txBody>
                  <a:tcPr marL="91440" marR="91440" marT="45720" marB="45720">
                    <a:lnL w="6350" cap="flat" cmpd="sng" algn="ctr">
                      <a:solidFill>
                        <a:srgbClr val="D0D7D7"/>
                      </a:solidFill>
                      <a:prstDash val="solid"/>
                      <a:round/>
                      <a:headEnd type="none" w="med" len="med"/>
                      <a:tailEnd type="none" w="med" len="med"/>
                    </a:lnL>
                    <a:lnR w="6350" cap="flat" cmpd="sng" algn="ctr">
                      <a:solidFill>
                        <a:srgbClr val="D0D7D7"/>
                      </a:solidFill>
                      <a:prstDash val="solid"/>
                      <a:round/>
                      <a:headEnd type="none" w="med" len="med"/>
                      <a:tailEnd type="none" w="med" len="med"/>
                    </a:lnR>
                    <a:lnT w="6350" cap="flat" cmpd="sng" algn="ctr">
                      <a:solidFill>
                        <a:srgbClr val="D0D7D7"/>
                      </a:solidFill>
                      <a:prstDash val="solid"/>
                      <a:round/>
                      <a:headEnd type="none" w="med" len="med"/>
                      <a:tailEnd type="none" w="med" len="med"/>
                    </a:lnT>
                    <a:lnB w="6350" cap="flat" cmpd="sng" algn="ctr">
                      <a:solidFill>
                        <a:srgbClr val="D0D7D7"/>
                      </a:solidFill>
                      <a:prstDash val="solid"/>
                      <a:round/>
                      <a:headEnd type="none" w="med" len="med"/>
                      <a:tailEnd type="none" w="med" len="med"/>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6"/>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23836"/>
          </a:solidFill>
          <a:ln/>
        </p:spPr>
      </p:sp>
      <p:sp>
        <p:nvSpPr>
          <p:cNvPr id="3" name="Shape 1"/>
          <p:cNvSpPr/>
          <p:nvPr/>
        </p:nvSpPr>
        <p:spPr>
          <a:xfrm>
            <a:off x="0" y="0"/>
            <a:ext cx="73152" cy="960120"/>
          </a:xfrm>
          <a:prstGeom prst="rect">
            <a:avLst/>
          </a:prstGeom>
          <a:solidFill>
            <a:srgbClr val="FF6359"/>
          </a:solidFill>
          <a:ln/>
        </p:spPr>
      </p:sp>
      <p:sp>
        <p:nvSpPr>
          <p:cNvPr id="4" name="Text 2"/>
          <p:cNvSpPr/>
          <p:nvPr/>
        </p:nvSpPr>
        <p:spPr>
          <a:xfrm>
            <a:off x="182880" y="64008"/>
            <a:ext cx="6400800" cy="50292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Registration</a:t>
            </a:r>
            <a:endParaRPr lang="en-US" sz="2000" dirty="0"/>
          </a:p>
        </p:txBody>
      </p:sp>
      <p:sp>
        <p:nvSpPr>
          <p:cNvPr id="5" name="Text 3"/>
          <p:cNvSpPr/>
          <p:nvPr/>
        </p:nvSpPr>
        <p:spPr>
          <a:xfrm>
            <a:off x="182880" y="548640"/>
            <a:ext cx="8229600" cy="347472"/>
          </a:xfrm>
          <a:prstGeom prst="rect">
            <a:avLst/>
          </a:prstGeom>
          <a:noFill/>
          <a:ln/>
        </p:spPr>
        <p:txBody>
          <a:bodyPr wrap="square" rtlCol="0" anchor="ctr"/>
          <a:lstStyle/>
          <a:p>
            <a:pPr indent="0" marL="0">
              <a:buNone/>
            </a:pPr>
            <a:r>
              <a:rPr lang="en-US" sz="1100" dirty="0">
                <a:solidFill>
                  <a:srgbClr val="73AA87"/>
                </a:solidFill>
                <a:latin typeface="Calibri" pitchFamily="34" charset="0"/>
                <a:ea typeface="Calibri" pitchFamily="34" charset="-122"/>
                <a:cs typeface="Calibri" pitchFamily="34" charset="-120"/>
              </a:rPr>
              <a:t>Core Revenue Management Capabilities | Initiative Detail</a:t>
            </a:r>
            <a:endParaRPr lang="en-US" sz="1100" dirty="0"/>
          </a:p>
        </p:txBody>
      </p:sp>
      <p:sp>
        <p:nvSpPr>
          <p:cNvPr id="6" name="Text 4"/>
          <p:cNvSpPr/>
          <p:nvPr/>
        </p:nvSpPr>
        <p:spPr>
          <a:xfrm>
            <a:off x="6858000" y="73152"/>
            <a:ext cx="2103120" cy="365760"/>
          </a:xfrm>
          <a:prstGeom prst="rect">
            <a:avLst/>
          </a:prstGeom>
          <a:noFill/>
          <a:ln/>
        </p:spPr>
        <p:txBody>
          <a:bodyPr wrap="square" rtlCol="0" anchor="ctr"/>
          <a:lstStyle/>
          <a:p>
            <a:pPr algn="r" indent="0" marL="0">
              <a:buNone/>
            </a:pPr>
            <a:r>
              <a:rPr lang="en-US" sz="1200" b="1" dirty="0">
                <a:solidFill>
                  <a:srgbClr val="73AA87"/>
                </a:solidFill>
                <a:latin typeface="Calibri" pitchFamily="34" charset="0"/>
                <a:ea typeface="Calibri" pitchFamily="34" charset="-122"/>
                <a:cs typeface="Calibri" pitchFamily="34" charset="-120"/>
              </a:rPr>
              <a:t>Netcompany</a:t>
            </a:r>
            <a:endParaRPr lang="en-US" sz="1200" dirty="0"/>
          </a:p>
        </p:txBody>
      </p:sp>
      <p:sp>
        <p:nvSpPr>
          <p:cNvPr id="7" name="Shape 5"/>
          <p:cNvSpPr/>
          <p:nvPr/>
        </p:nvSpPr>
        <p:spPr>
          <a:xfrm>
            <a:off x="0" y="4983480"/>
            <a:ext cx="9144000" cy="160020"/>
          </a:xfrm>
          <a:prstGeom prst="rect">
            <a:avLst/>
          </a:prstGeom>
          <a:solidFill>
            <a:srgbClr val="123836"/>
          </a:solidFill>
          <a:ln/>
        </p:spPr>
      </p:sp>
      <p:sp>
        <p:nvSpPr>
          <p:cNvPr id="8" name="Text 6"/>
          <p:cNvSpPr/>
          <p:nvPr/>
        </p:nvSpPr>
        <p:spPr>
          <a:xfrm>
            <a:off x="137160" y="4974336"/>
            <a:ext cx="6400800" cy="164592"/>
          </a:xfrm>
          <a:prstGeom prst="rect">
            <a:avLst/>
          </a:prstGeom>
          <a:noFill/>
          <a:ln/>
        </p:spPr>
        <p:txBody>
          <a:bodyPr wrap="square" rtlCol="0" anchor="ctr"/>
          <a:lstStyle/>
          <a:p>
            <a:pPr indent="0" marL="0">
              <a:buNone/>
            </a:pPr>
            <a:r>
              <a:rPr lang="en-US" sz="800" dirty="0">
                <a:solidFill>
                  <a:srgbClr val="D0D7D7"/>
                </a:solidFill>
                <a:latin typeface="Calibri" pitchFamily="34" charset="0"/>
                <a:ea typeface="Calibri" pitchFamily="34" charset="-122"/>
                <a:cs typeface="Calibri" pitchFamily="34" charset="-120"/>
              </a:rPr>
              <a:t>Solon Tax Product Roadmap 2026 | SteerCo</a:t>
            </a:r>
            <a:endParaRPr lang="en-US" sz="800" dirty="0"/>
          </a:p>
        </p:txBody>
      </p:sp>
      <p:sp>
        <p:nvSpPr>
          <p:cNvPr id="9" name="Text 7"/>
          <p:cNvSpPr/>
          <p:nvPr/>
        </p:nvSpPr>
        <p:spPr>
          <a:xfrm>
            <a:off x="8686800" y="4974336"/>
            <a:ext cx="365760" cy="164592"/>
          </a:xfrm>
          <a:prstGeom prst="rect">
            <a:avLst/>
          </a:prstGeom>
          <a:noFill/>
          <a:ln/>
        </p:spPr>
        <p:txBody>
          <a:bodyPr wrap="square" rtlCol="0" anchor="ctr"/>
          <a:lstStyle/>
          <a:p>
            <a:pPr algn="r" indent="0" marL="0">
              <a:buNone/>
            </a:pPr>
            <a:r>
              <a:rPr lang="en-US" sz="800" dirty="0">
                <a:solidFill>
                  <a:srgbClr val="D0D7D7"/>
                </a:solidFill>
                <a:latin typeface="Calibri" pitchFamily="34" charset="0"/>
                <a:ea typeface="Calibri" pitchFamily="34" charset="-122"/>
                <a:cs typeface="Calibri" pitchFamily="34" charset="-120"/>
              </a:rPr>
              <a:t>4</a:t>
            </a:r>
            <a:endParaRPr lang="en-US" sz="800" dirty="0"/>
          </a:p>
        </p:txBody>
      </p:sp>
      <p:sp>
        <p:nvSpPr>
          <p:cNvPr id="10" name="Shape 8"/>
          <p:cNvSpPr/>
          <p:nvPr/>
        </p:nvSpPr>
        <p:spPr>
          <a:xfrm>
            <a:off x="228600" y="1005840"/>
            <a:ext cx="2011680" cy="914400"/>
          </a:xfrm>
          <a:prstGeom prst="rect">
            <a:avLst/>
          </a:prstGeom>
          <a:solidFill>
            <a:srgbClr val="123836"/>
          </a:solidFill>
          <a:ln w="12700">
            <a:solidFill>
              <a:srgbClr val="1B5E52"/>
            </a:solidFill>
            <a:prstDash val="solid"/>
          </a:ln>
          <a:effectLst>
            <a:outerShdw sx="100000" sy="100000" kx="0" ky="0" algn="bl" rotWithShape="0" blurRad="50800" dist="25400" dir="8100000">
              <a:srgbClr val="000000">
                <a:alpha val="12000"/>
              </a:srgbClr>
            </a:outerShdw>
          </a:effectLst>
        </p:spPr>
      </p:sp>
      <p:sp>
        <p:nvSpPr>
          <p:cNvPr id="11" name="Shape 9"/>
          <p:cNvSpPr/>
          <p:nvPr/>
        </p:nvSpPr>
        <p:spPr>
          <a:xfrm>
            <a:off x="228600" y="1005840"/>
            <a:ext cx="2011680" cy="54864"/>
          </a:xfrm>
          <a:prstGeom prst="rect">
            <a:avLst/>
          </a:prstGeom>
          <a:solidFill>
            <a:srgbClr val="FF6359"/>
          </a:solidFill>
          <a:ln/>
        </p:spPr>
      </p:sp>
      <p:sp>
        <p:nvSpPr>
          <p:cNvPr id="12" name="Text 10"/>
          <p:cNvSpPr/>
          <p:nvPr/>
        </p:nvSpPr>
        <p:spPr>
          <a:xfrm>
            <a:off x="320040" y="1097280"/>
            <a:ext cx="1828800" cy="438912"/>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~11,900</a:t>
            </a:r>
            <a:endParaRPr lang="en-US" sz="2200" dirty="0"/>
          </a:p>
        </p:txBody>
      </p:sp>
      <p:sp>
        <p:nvSpPr>
          <p:cNvPr id="13" name="Text 11"/>
          <p:cNvSpPr/>
          <p:nvPr/>
        </p:nvSpPr>
        <p:spPr>
          <a:xfrm>
            <a:off x="320040" y="1481328"/>
            <a:ext cx="1828800" cy="201168"/>
          </a:xfrm>
          <a:prstGeom prst="rect">
            <a:avLst/>
          </a:prstGeom>
          <a:noFill/>
          <a:ln/>
        </p:spPr>
        <p:txBody>
          <a:bodyPr wrap="square" rtlCol="0" anchor="ctr"/>
          <a:lstStyle/>
          <a:p>
            <a:pPr algn="ctr" indent="0" marL="0">
              <a:buNone/>
            </a:pPr>
            <a:r>
              <a:rPr lang="en-US" sz="900" dirty="0">
                <a:solidFill>
                  <a:srgbClr val="FFD282"/>
                </a:solidFill>
                <a:latin typeface="Calibri" pitchFamily="34" charset="0"/>
                <a:ea typeface="Calibri" pitchFamily="34" charset="-122"/>
                <a:cs typeface="Calibri" pitchFamily="34" charset="-120"/>
              </a:rPr>
              <a:t>Hours</a:t>
            </a:r>
            <a:endParaRPr lang="en-US" sz="900" dirty="0"/>
          </a:p>
        </p:txBody>
      </p:sp>
      <p:sp>
        <p:nvSpPr>
          <p:cNvPr id="14" name="Text 12"/>
          <p:cNvSpPr/>
          <p:nvPr/>
        </p:nvSpPr>
        <p:spPr>
          <a:xfrm>
            <a:off x="274320" y="1627632"/>
            <a:ext cx="1920240" cy="329184"/>
          </a:xfrm>
          <a:prstGeom prst="rect">
            <a:avLst/>
          </a:prstGeom>
          <a:noFill/>
          <a:ln/>
        </p:spPr>
        <p:txBody>
          <a:bodyPr wrap="square" rtlCol="0" anchor="ctr"/>
          <a:lstStyle/>
          <a:p>
            <a:pPr algn="ctr" indent="0" marL="0">
              <a:buNone/>
            </a:pPr>
            <a:r>
              <a:rPr lang="en-US" sz="900" dirty="0">
                <a:solidFill>
                  <a:srgbClr val="D0D7D7"/>
                </a:solidFill>
                <a:latin typeface="Calibri" pitchFamily="34" charset="0"/>
                <a:ea typeface="Calibri" pitchFamily="34" charset="-122"/>
                <a:cs typeface="Calibri" pitchFamily="34" charset="-120"/>
              </a:rPr>
              <a:t>Total Estimated Effort</a:t>
            </a:r>
            <a:endParaRPr lang="en-US" sz="900" dirty="0"/>
          </a:p>
        </p:txBody>
      </p:sp>
      <p:sp>
        <p:nvSpPr>
          <p:cNvPr id="15" name="Shape 13"/>
          <p:cNvSpPr/>
          <p:nvPr/>
        </p:nvSpPr>
        <p:spPr>
          <a:xfrm>
            <a:off x="2414016" y="1005840"/>
            <a:ext cx="2011680" cy="914400"/>
          </a:xfrm>
          <a:prstGeom prst="rect">
            <a:avLst/>
          </a:prstGeom>
          <a:solidFill>
            <a:srgbClr val="123836"/>
          </a:solidFill>
          <a:ln w="12700">
            <a:solidFill>
              <a:srgbClr val="1B5E52"/>
            </a:solidFill>
            <a:prstDash val="solid"/>
          </a:ln>
          <a:effectLst>
            <a:outerShdw sx="100000" sy="100000" kx="0" ky="0" algn="bl" rotWithShape="0" blurRad="50800" dist="25400" dir="8100000">
              <a:srgbClr val="000000">
                <a:alpha val="12000"/>
              </a:srgbClr>
            </a:outerShdw>
          </a:effectLst>
        </p:spPr>
      </p:sp>
      <p:sp>
        <p:nvSpPr>
          <p:cNvPr id="16" name="Shape 14"/>
          <p:cNvSpPr/>
          <p:nvPr/>
        </p:nvSpPr>
        <p:spPr>
          <a:xfrm>
            <a:off x="2414016" y="1005840"/>
            <a:ext cx="2011680" cy="54864"/>
          </a:xfrm>
          <a:prstGeom prst="rect">
            <a:avLst/>
          </a:prstGeom>
          <a:solidFill>
            <a:srgbClr val="FF6359"/>
          </a:solidFill>
          <a:ln/>
        </p:spPr>
      </p:sp>
      <p:sp>
        <p:nvSpPr>
          <p:cNvPr id="17" name="Text 15"/>
          <p:cNvSpPr/>
          <p:nvPr/>
        </p:nvSpPr>
        <p:spPr>
          <a:xfrm>
            <a:off x="2505456" y="1097280"/>
            <a:ext cx="1828800" cy="438912"/>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6</a:t>
            </a:r>
            <a:endParaRPr lang="en-US" sz="2200" dirty="0"/>
          </a:p>
        </p:txBody>
      </p:sp>
      <p:sp>
        <p:nvSpPr>
          <p:cNvPr id="18" name="Text 16"/>
          <p:cNvSpPr/>
          <p:nvPr/>
        </p:nvSpPr>
        <p:spPr>
          <a:xfrm>
            <a:off x="2505456" y="1481328"/>
            <a:ext cx="1828800" cy="201168"/>
          </a:xfrm>
          <a:prstGeom prst="rect">
            <a:avLst/>
          </a:prstGeom>
          <a:noFill/>
          <a:ln/>
        </p:spPr>
        <p:txBody>
          <a:bodyPr wrap="square" rtlCol="0" anchor="ctr"/>
          <a:lstStyle/>
          <a:p>
            <a:pPr algn="ctr" indent="0" marL="0">
              <a:buNone/>
            </a:pPr>
            <a:r>
              <a:rPr lang="en-US" sz="900" dirty="0">
                <a:solidFill>
                  <a:srgbClr val="FFD282"/>
                </a:solidFill>
                <a:latin typeface="Calibri" pitchFamily="34" charset="0"/>
                <a:ea typeface="Calibri" pitchFamily="34" charset="-122"/>
                <a:cs typeface="Calibri" pitchFamily="34" charset="-120"/>
              </a:rPr>
              <a:t>Count</a:t>
            </a:r>
            <a:endParaRPr lang="en-US" sz="900" dirty="0"/>
          </a:p>
        </p:txBody>
      </p:sp>
      <p:sp>
        <p:nvSpPr>
          <p:cNvPr id="19" name="Text 17"/>
          <p:cNvSpPr/>
          <p:nvPr/>
        </p:nvSpPr>
        <p:spPr>
          <a:xfrm>
            <a:off x="2459736" y="1627632"/>
            <a:ext cx="1920240" cy="329184"/>
          </a:xfrm>
          <a:prstGeom prst="rect">
            <a:avLst/>
          </a:prstGeom>
          <a:noFill/>
          <a:ln/>
        </p:spPr>
        <p:txBody>
          <a:bodyPr wrap="square" rtlCol="0" anchor="ctr"/>
          <a:lstStyle/>
          <a:p>
            <a:pPr algn="ctr" indent="0" marL="0">
              <a:buNone/>
            </a:pPr>
            <a:r>
              <a:rPr lang="en-US" sz="900" dirty="0">
                <a:solidFill>
                  <a:srgbClr val="D0D7D7"/>
                </a:solidFill>
                <a:latin typeface="Calibri" pitchFamily="34" charset="0"/>
                <a:ea typeface="Calibri" pitchFamily="34" charset="-122"/>
                <a:cs typeface="Calibri" pitchFamily="34" charset="-120"/>
              </a:rPr>
              <a:t>Features in Scope</a:t>
            </a:r>
            <a:endParaRPr lang="en-US" sz="900" dirty="0"/>
          </a:p>
        </p:txBody>
      </p:sp>
      <p:sp>
        <p:nvSpPr>
          <p:cNvPr id="20" name="Shape 18"/>
          <p:cNvSpPr/>
          <p:nvPr/>
        </p:nvSpPr>
        <p:spPr>
          <a:xfrm>
            <a:off x="4599432" y="1005840"/>
            <a:ext cx="2011680" cy="914400"/>
          </a:xfrm>
          <a:prstGeom prst="rect">
            <a:avLst/>
          </a:prstGeom>
          <a:solidFill>
            <a:srgbClr val="123836"/>
          </a:solidFill>
          <a:ln w="12700">
            <a:solidFill>
              <a:srgbClr val="1B5E52"/>
            </a:solidFill>
            <a:prstDash val="solid"/>
          </a:ln>
          <a:effectLst>
            <a:outerShdw sx="100000" sy="100000" kx="0" ky="0" algn="bl" rotWithShape="0" blurRad="50800" dist="25400" dir="8100000">
              <a:srgbClr val="000000">
                <a:alpha val="12000"/>
              </a:srgbClr>
            </a:outerShdw>
          </a:effectLst>
        </p:spPr>
      </p:sp>
      <p:sp>
        <p:nvSpPr>
          <p:cNvPr id="21" name="Shape 19"/>
          <p:cNvSpPr/>
          <p:nvPr/>
        </p:nvSpPr>
        <p:spPr>
          <a:xfrm>
            <a:off x="4599432" y="1005840"/>
            <a:ext cx="2011680" cy="54864"/>
          </a:xfrm>
          <a:prstGeom prst="rect">
            <a:avLst/>
          </a:prstGeom>
          <a:solidFill>
            <a:srgbClr val="FF6359"/>
          </a:solidFill>
          <a:ln/>
        </p:spPr>
      </p:sp>
      <p:sp>
        <p:nvSpPr>
          <p:cNvPr id="22" name="Text 20"/>
          <p:cNvSpPr/>
          <p:nvPr/>
        </p:nvSpPr>
        <p:spPr>
          <a:xfrm>
            <a:off x="4690872" y="1097280"/>
            <a:ext cx="1828800" cy="438912"/>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P1</a:t>
            </a:r>
            <a:endParaRPr lang="en-US" sz="2200" dirty="0"/>
          </a:p>
        </p:txBody>
      </p:sp>
      <p:sp>
        <p:nvSpPr>
          <p:cNvPr id="23" name="Text 21"/>
          <p:cNvSpPr/>
          <p:nvPr/>
        </p:nvSpPr>
        <p:spPr>
          <a:xfrm>
            <a:off x="4690872" y="1481328"/>
            <a:ext cx="1828800" cy="201168"/>
          </a:xfrm>
          <a:prstGeom prst="rect">
            <a:avLst/>
          </a:prstGeom>
          <a:noFill/>
          <a:ln/>
        </p:spPr>
        <p:txBody>
          <a:bodyPr wrap="square" rtlCol="0" anchor="ctr"/>
          <a:lstStyle/>
          <a:p>
            <a:pPr algn="ctr" indent="0" marL="0">
              <a:buNone/>
            </a:pPr>
            <a:r>
              <a:rPr lang="en-US" sz="900" dirty="0">
                <a:solidFill>
                  <a:srgbClr val="FFD282"/>
                </a:solidFill>
                <a:latin typeface="Calibri" pitchFamily="34" charset="0"/>
                <a:ea typeface="Calibri" pitchFamily="34" charset="-122"/>
                <a:cs typeface="Calibri" pitchFamily="34" charset="-120"/>
              </a:rPr>
              <a:t>Must Have</a:t>
            </a:r>
            <a:endParaRPr lang="en-US" sz="900" dirty="0"/>
          </a:p>
        </p:txBody>
      </p:sp>
      <p:sp>
        <p:nvSpPr>
          <p:cNvPr id="24" name="Text 22"/>
          <p:cNvSpPr/>
          <p:nvPr/>
        </p:nvSpPr>
        <p:spPr>
          <a:xfrm>
            <a:off x="4645152" y="1627632"/>
            <a:ext cx="1920240" cy="329184"/>
          </a:xfrm>
          <a:prstGeom prst="rect">
            <a:avLst/>
          </a:prstGeom>
          <a:noFill/>
          <a:ln/>
        </p:spPr>
        <p:txBody>
          <a:bodyPr wrap="square" rtlCol="0" anchor="ctr"/>
          <a:lstStyle/>
          <a:p>
            <a:pPr algn="ctr" indent="0" marL="0">
              <a:buNone/>
            </a:pPr>
            <a:r>
              <a:rPr lang="en-US" sz="900" dirty="0">
                <a:solidFill>
                  <a:srgbClr val="D0D7D7"/>
                </a:solidFill>
                <a:latin typeface="Calibri" pitchFamily="34" charset="0"/>
                <a:ea typeface="Calibri" pitchFamily="34" charset="-122"/>
                <a:cs typeface="Calibri" pitchFamily="34" charset="-120"/>
              </a:rPr>
              <a:t>Primary Priority</a:t>
            </a:r>
            <a:endParaRPr lang="en-US" sz="900" dirty="0"/>
          </a:p>
        </p:txBody>
      </p:sp>
      <p:sp>
        <p:nvSpPr>
          <p:cNvPr id="25" name="Shape 23"/>
          <p:cNvSpPr/>
          <p:nvPr/>
        </p:nvSpPr>
        <p:spPr>
          <a:xfrm>
            <a:off x="6784848" y="1005840"/>
            <a:ext cx="2011680" cy="914400"/>
          </a:xfrm>
          <a:prstGeom prst="rect">
            <a:avLst/>
          </a:prstGeom>
          <a:solidFill>
            <a:srgbClr val="123836"/>
          </a:solidFill>
          <a:ln w="12700">
            <a:solidFill>
              <a:srgbClr val="1B5E52"/>
            </a:solidFill>
            <a:prstDash val="solid"/>
          </a:ln>
          <a:effectLst>
            <a:outerShdw sx="100000" sy="100000" kx="0" ky="0" algn="bl" rotWithShape="0" blurRad="50800" dist="25400" dir="8100000">
              <a:srgbClr val="000000">
                <a:alpha val="12000"/>
              </a:srgbClr>
            </a:outerShdw>
          </a:effectLst>
        </p:spPr>
      </p:sp>
      <p:sp>
        <p:nvSpPr>
          <p:cNvPr id="26" name="Shape 24"/>
          <p:cNvSpPr/>
          <p:nvPr/>
        </p:nvSpPr>
        <p:spPr>
          <a:xfrm>
            <a:off x="6784848" y="1005840"/>
            <a:ext cx="2011680" cy="54864"/>
          </a:xfrm>
          <a:prstGeom prst="rect">
            <a:avLst/>
          </a:prstGeom>
          <a:solidFill>
            <a:srgbClr val="FF6359"/>
          </a:solidFill>
          <a:ln/>
        </p:spPr>
      </p:sp>
      <p:sp>
        <p:nvSpPr>
          <p:cNvPr id="27" name="Text 25"/>
          <p:cNvSpPr/>
          <p:nvPr/>
        </p:nvSpPr>
        <p:spPr>
          <a:xfrm>
            <a:off x="6876288" y="1097280"/>
            <a:ext cx="1828800" cy="438912"/>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PI27–PI29</a:t>
            </a:r>
            <a:endParaRPr lang="en-US" sz="2200" dirty="0"/>
          </a:p>
        </p:txBody>
      </p:sp>
      <p:sp>
        <p:nvSpPr>
          <p:cNvPr id="28" name="Text 26"/>
          <p:cNvSpPr/>
          <p:nvPr/>
        </p:nvSpPr>
        <p:spPr>
          <a:xfrm>
            <a:off x="6876288" y="1481328"/>
            <a:ext cx="1828800" cy="201168"/>
          </a:xfrm>
          <a:prstGeom prst="rect">
            <a:avLst/>
          </a:prstGeom>
          <a:noFill/>
          <a:ln/>
        </p:spPr>
        <p:txBody>
          <a:bodyPr wrap="square" rtlCol="0" anchor="ctr"/>
          <a:lstStyle/>
          <a:p>
            <a:pPr algn="ctr" indent="0" marL="0">
              <a:buNone/>
            </a:pPr>
            <a:r>
              <a:rPr lang="en-US" sz="900" dirty="0">
                <a:solidFill>
                  <a:srgbClr val="FFD282"/>
                </a:solidFill>
                <a:latin typeface="Calibri" pitchFamily="34" charset="0"/>
                <a:ea typeface="Calibri" pitchFamily="34" charset="-122"/>
                <a:cs typeface="Calibri" pitchFamily="34" charset="-120"/>
              </a:rPr>
              <a:t>Program Increments</a:t>
            </a:r>
            <a:endParaRPr lang="en-US" sz="900" dirty="0"/>
          </a:p>
        </p:txBody>
      </p:sp>
      <p:sp>
        <p:nvSpPr>
          <p:cNvPr id="29" name="Text 27"/>
          <p:cNvSpPr/>
          <p:nvPr/>
        </p:nvSpPr>
        <p:spPr>
          <a:xfrm>
            <a:off x="6830568" y="1627632"/>
            <a:ext cx="1920240" cy="329184"/>
          </a:xfrm>
          <a:prstGeom prst="rect">
            <a:avLst/>
          </a:prstGeom>
          <a:noFill/>
          <a:ln/>
        </p:spPr>
        <p:txBody>
          <a:bodyPr wrap="square" rtlCol="0" anchor="ctr"/>
          <a:lstStyle/>
          <a:p>
            <a:pPr algn="ctr" indent="0" marL="0">
              <a:buNone/>
            </a:pPr>
            <a:r>
              <a:rPr lang="en-US" sz="900" dirty="0">
                <a:solidFill>
                  <a:srgbClr val="D0D7D7"/>
                </a:solidFill>
                <a:latin typeface="Calibri" pitchFamily="34" charset="0"/>
                <a:ea typeface="Calibri" pitchFamily="34" charset="-122"/>
                <a:cs typeface="Calibri" pitchFamily="34" charset="-120"/>
              </a:rPr>
              <a:t>Planned PI Window</a:t>
            </a:r>
            <a:endParaRPr lang="en-US" sz="900" dirty="0"/>
          </a:p>
        </p:txBody>
      </p:sp>
      <p:sp>
        <p:nvSpPr>
          <p:cNvPr id="30" name="Text 28"/>
          <p:cNvSpPr/>
          <p:nvPr/>
        </p:nvSpPr>
        <p:spPr>
          <a:xfrm>
            <a:off x="228600" y="1965960"/>
            <a:ext cx="2743200" cy="228600"/>
          </a:xfrm>
          <a:prstGeom prst="rect">
            <a:avLst/>
          </a:prstGeom>
          <a:noFill/>
          <a:ln/>
        </p:spPr>
        <p:txBody>
          <a:bodyPr wrap="square" rtlCol="0" anchor="ctr"/>
          <a:lstStyle/>
          <a:p>
            <a:pPr indent="0" marL="0">
              <a:buNone/>
            </a:pPr>
            <a:r>
              <a:rPr lang="en-US" sz="1000" b="1" dirty="0">
                <a:solidFill>
                  <a:srgbClr val="FF6359"/>
                </a:solidFill>
              </a:rPr>
              <a:t>Business Scope</a:t>
            </a:r>
            <a:endParaRPr lang="en-US" sz="1000" dirty="0"/>
          </a:p>
        </p:txBody>
      </p:sp>
      <p:sp>
        <p:nvSpPr>
          <p:cNvPr id="31" name="Text 29"/>
          <p:cNvSpPr/>
          <p:nvPr/>
        </p:nvSpPr>
        <p:spPr>
          <a:xfrm>
            <a:off x="228600" y="2212848"/>
            <a:ext cx="2743200" cy="685800"/>
          </a:xfrm>
          <a:prstGeom prst="rect">
            <a:avLst/>
          </a:prstGeom>
          <a:noFill/>
          <a:ln/>
        </p:spPr>
        <p:txBody>
          <a:bodyPr wrap="square" rtlCol="0" anchor="ctr"/>
          <a:lstStyle/>
          <a:p>
            <a:pPr indent="0" marL="0">
              <a:buNone/>
            </a:pPr>
            <a:r>
              <a:rPr lang="en-US" sz="900" dirty="0">
                <a:solidFill>
                  <a:srgbClr val="141E1E"/>
                </a:solidFill>
              </a:rPr>
              <a:t>Enables tax authorities to manage the complete registration lifecycle — including party creation, identifier management, historical data tracking, and organisational hierarchy. Supports natural persons and legal entities with full audit traceability.</a:t>
            </a:r>
            <a:endParaRPr lang="en-US" sz="900" dirty="0"/>
          </a:p>
        </p:txBody>
      </p:sp>
      <p:sp>
        <p:nvSpPr>
          <p:cNvPr id="32" name="Text 30"/>
          <p:cNvSpPr/>
          <p:nvPr/>
        </p:nvSpPr>
        <p:spPr>
          <a:xfrm>
            <a:off x="228600" y="2944368"/>
            <a:ext cx="2743200" cy="201168"/>
          </a:xfrm>
          <a:prstGeom prst="rect">
            <a:avLst/>
          </a:prstGeom>
          <a:noFill/>
          <a:ln/>
        </p:spPr>
        <p:txBody>
          <a:bodyPr wrap="square" rtlCol="0" anchor="ctr"/>
          <a:lstStyle/>
          <a:p>
            <a:pPr indent="0" marL="0">
              <a:buNone/>
            </a:pPr>
            <a:r>
              <a:rPr lang="en-US" sz="1000" b="1" dirty="0">
                <a:solidFill>
                  <a:srgbClr val="FF6359"/>
                </a:solidFill>
              </a:rPr>
              <a:t>Key Investment Benefits</a:t>
            </a:r>
            <a:endParaRPr lang="en-US" sz="1000" dirty="0"/>
          </a:p>
        </p:txBody>
      </p:sp>
      <p:sp>
        <p:nvSpPr>
          <p:cNvPr id="33" name="Text 31"/>
          <p:cNvSpPr/>
          <p:nvPr/>
        </p:nvSpPr>
        <p:spPr>
          <a:xfrm>
            <a:off x="228600" y="3172968"/>
            <a:ext cx="2743200" cy="749808"/>
          </a:xfrm>
          <a:prstGeom prst="rect">
            <a:avLst/>
          </a:prstGeom>
          <a:noFill/>
          <a:ln/>
        </p:spPr>
        <p:txBody>
          <a:bodyPr wrap="square" rtlCol="0" anchor="ctr"/>
          <a:lstStyle/>
          <a:p>
            <a:pPr marL="342900" indent="-342900">
              <a:buSzPct val="100000"/>
              <a:buChar char="•"/>
            </a:pPr>
            <a:r>
              <a:rPr lang="en-US" sz="900" dirty="0">
                <a:solidFill>
                  <a:srgbClr val="4A5C5A"/>
                </a:solidFill>
              </a:rPr>
              <a:t>Faster taxpayer onboarding reduces overhead and improves service delivery</a:t>
            </a:r>
            <a:endParaRPr lang="en-US" sz="900" dirty="0"/>
          </a:p>
          <a:p>
            <a:pPr marL="342900" indent="-342900">
              <a:buSzPct val="100000"/>
              <a:buChar char="•"/>
            </a:pPr>
            <a:r>
              <a:rPr lang="en-US" sz="900" dirty="0">
                <a:solidFill>
                  <a:srgbClr val="4A5C5A"/>
                </a:solidFill>
              </a:rPr>
              <a:t>Flexible party model supports VAT, CIT, and PAYE with full audit traceability</a:t>
            </a:r>
            <a:endParaRPr lang="en-US" sz="900" dirty="0"/>
          </a:p>
          <a:p>
            <a:pPr marL="342900" indent="-342900">
              <a:buSzPct val="100000"/>
              <a:buChar char="•"/>
            </a:pPr>
            <a:r>
              <a:rPr lang="en-US" sz="900" dirty="0">
                <a:solidFill>
                  <a:srgbClr val="4A5C5A"/>
                </a:solidFill>
              </a:rPr>
              <a:t>Structured identifiers and validation rules improve data quality across tax types</a:t>
            </a:r>
            <a:endParaRPr lang="en-US" sz="900" dirty="0"/>
          </a:p>
        </p:txBody>
      </p:sp>
      <p:sp>
        <p:nvSpPr>
          <p:cNvPr id="34" name="Text 32"/>
          <p:cNvSpPr/>
          <p:nvPr/>
        </p:nvSpPr>
        <p:spPr>
          <a:xfrm>
            <a:off x="3108960" y="1965960"/>
            <a:ext cx="3017520" cy="228600"/>
          </a:xfrm>
          <a:prstGeom prst="rect">
            <a:avLst/>
          </a:prstGeom>
          <a:noFill/>
          <a:ln/>
        </p:spPr>
        <p:txBody>
          <a:bodyPr wrap="square" rtlCol="0" anchor="ctr"/>
          <a:lstStyle/>
          <a:p>
            <a:pPr indent="0" marL="0">
              <a:buNone/>
            </a:pPr>
            <a:r>
              <a:rPr lang="en-US" sz="1000" b="1" dirty="0">
                <a:solidFill>
                  <a:srgbClr val="FF6359"/>
                </a:solidFill>
              </a:rPr>
              <a:t>Estimated Effort by Feature Area</a:t>
            </a:r>
            <a:endParaRPr lang="en-US" sz="1000" dirty="0"/>
          </a:p>
        </p:txBody>
      </p:sp>
      <p:graphicFrame>
        <p:nvGraphicFramePr>
          <p:cNvPr id="35" name="Chart 0" descr=""/>
          <p:cNvGraphicFramePr/>
          <p:nvPr/>
        </p:nvGraphicFramePr>
        <p:xfrm>
          <a:off x="3108960" y="2212848"/>
          <a:ext cx="3017520" cy="1828800"/>
        </p:xfrm>
        <a:graphic xmlns:a="http://schemas.openxmlformats.org/drawingml/2006/main">
          <a:graphicData uri="http://schemas.openxmlformats.org/drawingml/2006/chart">
            <c:chart xmlns:c="http://schemas.openxmlformats.org/drawingml/2006/chart" r:id="rId1"/>
          </a:graphicData>
        </a:graphic>
      </p:graphicFrame>
      <p:sp>
        <p:nvSpPr>
          <p:cNvPr id="36" name="Text 33"/>
          <p:cNvSpPr/>
          <p:nvPr/>
        </p:nvSpPr>
        <p:spPr>
          <a:xfrm>
            <a:off x="6263640" y="1965960"/>
            <a:ext cx="2651760" cy="228600"/>
          </a:xfrm>
          <a:prstGeom prst="rect">
            <a:avLst/>
          </a:prstGeom>
          <a:noFill/>
          <a:ln/>
        </p:spPr>
        <p:txBody>
          <a:bodyPr wrap="square" rtlCol="0" anchor="ctr"/>
          <a:lstStyle/>
          <a:p>
            <a:pPr indent="0" marL="0">
              <a:buNone/>
            </a:pPr>
            <a:r>
              <a:rPr lang="en-US" sz="1000" b="1" dirty="0">
                <a:solidFill>
                  <a:srgbClr val="FF6359"/>
                </a:solidFill>
              </a:rPr>
              <a:t>Priority Distribution</a:t>
            </a:r>
            <a:endParaRPr lang="en-US" sz="1000" dirty="0"/>
          </a:p>
        </p:txBody>
      </p:sp>
      <p:graphicFrame>
        <p:nvGraphicFramePr>
          <p:cNvPr id="37" name="Chart 1" descr=""/>
          <p:cNvGraphicFramePr/>
          <p:nvPr/>
        </p:nvGraphicFramePr>
        <p:xfrm>
          <a:off x="6263640" y="2212848"/>
          <a:ext cx="2651760" cy="914400"/>
        </p:xfrm>
        <a:graphic xmlns:a="http://schemas.openxmlformats.org/drawingml/2006/main">
          <a:graphicData uri="http://schemas.openxmlformats.org/drawingml/2006/chart">
            <c:chart xmlns:c="http://schemas.openxmlformats.org/drawingml/2006/chart" r:id="rId2"/>
          </a:graphicData>
        </a:graphic>
      </p:graphicFrame>
      <p:sp>
        <p:nvSpPr>
          <p:cNvPr id="38" name="Text 34"/>
          <p:cNvSpPr/>
          <p:nvPr/>
        </p:nvSpPr>
        <p:spPr>
          <a:xfrm>
            <a:off x="228600" y="3886200"/>
            <a:ext cx="914400" cy="201168"/>
          </a:xfrm>
          <a:prstGeom prst="rect">
            <a:avLst/>
          </a:prstGeom>
          <a:noFill/>
          <a:ln/>
        </p:spPr>
        <p:txBody>
          <a:bodyPr wrap="square" rtlCol="0" anchor="ctr"/>
          <a:lstStyle/>
          <a:p>
            <a:pPr indent="0" marL="0">
              <a:buNone/>
            </a:pPr>
            <a:r>
              <a:rPr lang="en-US" sz="1000" b="1" dirty="0">
                <a:solidFill>
                  <a:srgbClr val="FF6359"/>
                </a:solidFill>
              </a:rPr>
              <a:t>PI Planning</a:t>
            </a:r>
            <a:endParaRPr lang="en-US" sz="1000" dirty="0"/>
          </a:p>
        </p:txBody>
      </p:sp>
      <p:sp>
        <p:nvSpPr>
          <p:cNvPr id="39" name="Shape 35"/>
          <p:cNvSpPr/>
          <p:nvPr/>
        </p:nvSpPr>
        <p:spPr>
          <a:xfrm>
            <a:off x="228600" y="4114800"/>
            <a:ext cx="2743200" cy="658368"/>
          </a:xfrm>
          <a:prstGeom prst="rect">
            <a:avLst/>
          </a:prstGeom>
          <a:solidFill>
            <a:srgbClr val="123836"/>
          </a:solidFill>
          <a:ln/>
        </p:spPr>
      </p:sp>
      <p:sp>
        <p:nvSpPr>
          <p:cNvPr id="40" name="Text 36"/>
          <p:cNvSpPr/>
          <p:nvPr/>
        </p:nvSpPr>
        <p:spPr>
          <a:xfrm>
            <a:off x="320040" y="4142232"/>
            <a:ext cx="502920" cy="201168"/>
          </a:xfrm>
          <a:prstGeom prst="rect">
            <a:avLst/>
          </a:prstGeom>
          <a:noFill/>
          <a:ln/>
        </p:spPr>
        <p:txBody>
          <a:bodyPr wrap="square" rtlCol="0" anchor="ctr"/>
          <a:lstStyle/>
          <a:p>
            <a:pPr indent="0" marL="0">
              <a:buNone/>
            </a:pPr>
            <a:r>
              <a:rPr lang="en-US" sz="1000" b="1" dirty="0">
                <a:solidFill>
                  <a:srgbClr val="FFD282"/>
                </a:solidFill>
              </a:rPr>
              <a:t>PI27</a:t>
            </a:r>
            <a:endParaRPr lang="en-US" sz="1000" dirty="0"/>
          </a:p>
        </p:txBody>
      </p:sp>
      <p:sp>
        <p:nvSpPr>
          <p:cNvPr id="41" name="Text 37"/>
          <p:cNvSpPr/>
          <p:nvPr/>
        </p:nvSpPr>
        <p:spPr>
          <a:xfrm>
            <a:off x="850392" y="4133088"/>
            <a:ext cx="2057400" cy="402336"/>
          </a:xfrm>
          <a:prstGeom prst="rect">
            <a:avLst/>
          </a:prstGeom>
          <a:noFill/>
          <a:ln/>
        </p:spPr>
        <p:txBody>
          <a:bodyPr wrap="square" rtlCol="0" anchor="ctr"/>
          <a:lstStyle/>
          <a:p>
            <a:pPr indent="0" marL="0">
              <a:buNone/>
            </a:pPr>
            <a:r>
              <a:rPr lang="en-US" sz="800" dirty="0">
                <a:solidFill>
                  <a:srgbClr val="FFFFFF"/>
                </a:solidFill>
              </a:rPr>
              <a:t>Party Identifiers · Historical Data View · Additional Name Elements (3 features)</a:t>
            </a:r>
            <a:endParaRPr lang="en-US" sz="800" dirty="0"/>
          </a:p>
        </p:txBody>
      </p:sp>
      <p:sp>
        <p:nvSpPr>
          <p:cNvPr id="42" name="Shape 38"/>
          <p:cNvSpPr/>
          <p:nvPr/>
        </p:nvSpPr>
        <p:spPr>
          <a:xfrm>
            <a:off x="3127248" y="4114800"/>
            <a:ext cx="2743200" cy="658368"/>
          </a:xfrm>
          <a:prstGeom prst="rect">
            <a:avLst/>
          </a:prstGeom>
          <a:solidFill>
            <a:srgbClr val="1B5E52"/>
          </a:solidFill>
          <a:ln/>
        </p:spPr>
      </p:sp>
      <p:sp>
        <p:nvSpPr>
          <p:cNvPr id="43" name="Text 39"/>
          <p:cNvSpPr/>
          <p:nvPr/>
        </p:nvSpPr>
        <p:spPr>
          <a:xfrm>
            <a:off x="3218688" y="4142232"/>
            <a:ext cx="502920" cy="201168"/>
          </a:xfrm>
          <a:prstGeom prst="rect">
            <a:avLst/>
          </a:prstGeom>
          <a:noFill/>
          <a:ln/>
        </p:spPr>
        <p:txBody>
          <a:bodyPr wrap="square" rtlCol="0" anchor="ctr"/>
          <a:lstStyle/>
          <a:p>
            <a:pPr indent="0" marL="0">
              <a:buNone/>
            </a:pPr>
            <a:r>
              <a:rPr lang="en-US" sz="1000" b="1" dirty="0">
                <a:solidFill>
                  <a:srgbClr val="FFD282"/>
                </a:solidFill>
              </a:rPr>
              <a:t>PI28</a:t>
            </a:r>
            <a:endParaRPr lang="en-US" sz="1000" dirty="0"/>
          </a:p>
        </p:txBody>
      </p:sp>
      <p:sp>
        <p:nvSpPr>
          <p:cNvPr id="44" name="Text 40"/>
          <p:cNvSpPr/>
          <p:nvPr/>
        </p:nvSpPr>
        <p:spPr>
          <a:xfrm>
            <a:off x="3749040" y="4133088"/>
            <a:ext cx="2057400" cy="402336"/>
          </a:xfrm>
          <a:prstGeom prst="rect">
            <a:avLst/>
          </a:prstGeom>
          <a:noFill/>
          <a:ln/>
        </p:spPr>
        <p:txBody>
          <a:bodyPr wrap="square" rtlCol="0" anchor="ctr"/>
          <a:lstStyle/>
          <a:p>
            <a:pPr indent="0" marL="0">
              <a:buNone/>
            </a:pPr>
            <a:r>
              <a:rPr lang="en-US" sz="800" dirty="0">
                <a:solidFill>
                  <a:srgbClr val="FFFFFF"/>
                </a:solidFill>
              </a:rPr>
              <a:t>Data Area Enhancements · Search Enhancements (2 features) — confirm capacity now</a:t>
            </a:r>
            <a:endParaRPr lang="en-US" sz="800" dirty="0"/>
          </a:p>
        </p:txBody>
      </p:sp>
      <p:sp>
        <p:nvSpPr>
          <p:cNvPr id="45" name="Shape 41"/>
          <p:cNvSpPr/>
          <p:nvPr/>
        </p:nvSpPr>
        <p:spPr>
          <a:xfrm>
            <a:off x="6025896" y="4114800"/>
            <a:ext cx="2743200" cy="658368"/>
          </a:xfrm>
          <a:prstGeom prst="rect">
            <a:avLst/>
          </a:prstGeom>
          <a:solidFill>
            <a:srgbClr val="718886"/>
          </a:solidFill>
          <a:ln/>
        </p:spPr>
      </p:sp>
      <p:sp>
        <p:nvSpPr>
          <p:cNvPr id="46" name="Text 42"/>
          <p:cNvSpPr/>
          <p:nvPr/>
        </p:nvSpPr>
        <p:spPr>
          <a:xfrm>
            <a:off x="6117336" y="4142232"/>
            <a:ext cx="502920" cy="201168"/>
          </a:xfrm>
          <a:prstGeom prst="rect">
            <a:avLst/>
          </a:prstGeom>
          <a:noFill/>
          <a:ln/>
        </p:spPr>
        <p:txBody>
          <a:bodyPr wrap="square" rtlCol="0" anchor="ctr"/>
          <a:lstStyle/>
          <a:p>
            <a:pPr indent="0" marL="0">
              <a:buNone/>
            </a:pPr>
            <a:r>
              <a:rPr lang="en-US" sz="1000" b="1" dirty="0">
                <a:solidFill>
                  <a:srgbClr val="FFD282"/>
                </a:solidFill>
              </a:rPr>
              <a:t>PI29</a:t>
            </a:r>
            <a:endParaRPr lang="en-US" sz="1000" dirty="0"/>
          </a:p>
        </p:txBody>
      </p:sp>
      <p:sp>
        <p:nvSpPr>
          <p:cNvPr id="47" name="Text 43"/>
          <p:cNvSpPr/>
          <p:nvPr/>
        </p:nvSpPr>
        <p:spPr>
          <a:xfrm>
            <a:off x="6647688" y="4133088"/>
            <a:ext cx="2057400" cy="402336"/>
          </a:xfrm>
          <a:prstGeom prst="rect">
            <a:avLst/>
          </a:prstGeom>
          <a:noFill/>
          <a:ln/>
        </p:spPr>
        <p:txBody>
          <a:bodyPr wrap="square" rtlCol="0" anchor="ctr"/>
          <a:lstStyle/>
          <a:p>
            <a:pPr indent="0" marL="0">
              <a:buNone/>
            </a:pPr>
            <a:r>
              <a:rPr lang="en-US" sz="800" dirty="0">
                <a:solidFill>
                  <a:srgbClr val="FFFFFF"/>
                </a:solidFill>
              </a:rPr>
              <a:t>Organisational Hierarchy View — GRC team alignment required before scoping</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6"/>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23836"/>
          </a:solidFill>
          <a:ln/>
        </p:spPr>
      </p:sp>
      <p:sp>
        <p:nvSpPr>
          <p:cNvPr id="3" name="Shape 1"/>
          <p:cNvSpPr/>
          <p:nvPr/>
        </p:nvSpPr>
        <p:spPr>
          <a:xfrm>
            <a:off x="0" y="0"/>
            <a:ext cx="73152" cy="960120"/>
          </a:xfrm>
          <a:prstGeom prst="rect">
            <a:avLst/>
          </a:prstGeom>
          <a:solidFill>
            <a:srgbClr val="FF6359"/>
          </a:solidFill>
          <a:ln/>
        </p:spPr>
      </p:sp>
      <p:sp>
        <p:nvSpPr>
          <p:cNvPr id="4" name="Text 2"/>
          <p:cNvSpPr/>
          <p:nvPr/>
        </p:nvSpPr>
        <p:spPr>
          <a:xfrm>
            <a:off x="182880" y="64008"/>
            <a:ext cx="6400800" cy="50292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Taxpayer Accounting</a:t>
            </a:r>
            <a:endParaRPr lang="en-US" sz="2000" dirty="0"/>
          </a:p>
        </p:txBody>
      </p:sp>
      <p:sp>
        <p:nvSpPr>
          <p:cNvPr id="5" name="Text 3"/>
          <p:cNvSpPr/>
          <p:nvPr/>
        </p:nvSpPr>
        <p:spPr>
          <a:xfrm>
            <a:off x="182880" y="548640"/>
            <a:ext cx="8229600" cy="347472"/>
          </a:xfrm>
          <a:prstGeom prst="rect">
            <a:avLst/>
          </a:prstGeom>
          <a:noFill/>
          <a:ln/>
        </p:spPr>
        <p:txBody>
          <a:bodyPr wrap="square" rtlCol="0" anchor="ctr"/>
          <a:lstStyle/>
          <a:p>
            <a:pPr indent="0" marL="0">
              <a:buNone/>
            </a:pPr>
            <a:r>
              <a:rPr lang="en-US" sz="1100" dirty="0">
                <a:solidFill>
                  <a:srgbClr val="73AA87"/>
                </a:solidFill>
                <a:latin typeface="Calibri" pitchFamily="34" charset="0"/>
                <a:ea typeface="Calibri" pitchFamily="34" charset="-122"/>
                <a:cs typeface="Calibri" pitchFamily="34" charset="-120"/>
              </a:rPr>
              <a:t>Core Revenue Management Capabilities | Initiative Detail</a:t>
            </a:r>
            <a:endParaRPr lang="en-US" sz="1100" dirty="0"/>
          </a:p>
        </p:txBody>
      </p:sp>
      <p:sp>
        <p:nvSpPr>
          <p:cNvPr id="6" name="Text 4"/>
          <p:cNvSpPr/>
          <p:nvPr/>
        </p:nvSpPr>
        <p:spPr>
          <a:xfrm>
            <a:off x="6858000" y="73152"/>
            <a:ext cx="2103120" cy="365760"/>
          </a:xfrm>
          <a:prstGeom prst="rect">
            <a:avLst/>
          </a:prstGeom>
          <a:noFill/>
          <a:ln/>
        </p:spPr>
        <p:txBody>
          <a:bodyPr wrap="square" rtlCol="0" anchor="ctr"/>
          <a:lstStyle/>
          <a:p>
            <a:pPr algn="r" indent="0" marL="0">
              <a:buNone/>
            </a:pPr>
            <a:r>
              <a:rPr lang="en-US" sz="1200" b="1" dirty="0">
                <a:solidFill>
                  <a:srgbClr val="73AA87"/>
                </a:solidFill>
                <a:latin typeface="Calibri" pitchFamily="34" charset="0"/>
                <a:ea typeface="Calibri" pitchFamily="34" charset="-122"/>
                <a:cs typeface="Calibri" pitchFamily="34" charset="-120"/>
              </a:rPr>
              <a:t>Netcompany</a:t>
            </a:r>
            <a:endParaRPr lang="en-US" sz="1200" dirty="0"/>
          </a:p>
        </p:txBody>
      </p:sp>
      <p:sp>
        <p:nvSpPr>
          <p:cNvPr id="7" name="Shape 5"/>
          <p:cNvSpPr/>
          <p:nvPr/>
        </p:nvSpPr>
        <p:spPr>
          <a:xfrm>
            <a:off x="0" y="4983480"/>
            <a:ext cx="9144000" cy="160020"/>
          </a:xfrm>
          <a:prstGeom prst="rect">
            <a:avLst/>
          </a:prstGeom>
          <a:solidFill>
            <a:srgbClr val="123836"/>
          </a:solidFill>
          <a:ln/>
        </p:spPr>
      </p:sp>
      <p:sp>
        <p:nvSpPr>
          <p:cNvPr id="8" name="Text 6"/>
          <p:cNvSpPr/>
          <p:nvPr/>
        </p:nvSpPr>
        <p:spPr>
          <a:xfrm>
            <a:off x="137160" y="4974336"/>
            <a:ext cx="6400800" cy="164592"/>
          </a:xfrm>
          <a:prstGeom prst="rect">
            <a:avLst/>
          </a:prstGeom>
          <a:noFill/>
          <a:ln/>
        </p:spPr>
        <p:txBody>
          <a:bodyPr wrap="square" rtlCol="0" anchor="ctr"/>
          <a:lstStyle/>
          <a:p>
            <a:pPr indent="0" marL="0">
              <a:buNone/>
            </a:pPr>
            <a:r>
              <a:rPr lang="en-US" sz="800" dirty="0">
                <a:solidFill>
                  <a:srgbClr val="D0D7D7"/>
                </a:solidFill>
                <a:latin typeface="Calibri" pitchFamily="34" charset="0"/>
                <a:ea typeface="Calibri" pitchFamily="34" charset="-122"/>
                <a:cs typeface="Calibri" pitchFamily="34" charset="-120"/>
              </a:rPr>
              <a:t>Solon Tax Product Roadmap 2026 | SteerCo</a:t>
            </a:r>
            <a:endParaRPr lang="en-US" sz="800" dirty="0"/>
          </a:p>
        </p:txBody>
      </p:sp>
      <p:sp>
        <p:nvSpPr>
          <p:cNvPr id="9" name="Text 7"/>
          <p:cNvSpPr/>
          <p:nvPr/>
        </p:nvSpPr>
        <p:spPr>
          <a:xfrm>
            <a:off x="8686800" y="4974336"/>
            <a:ext cx="365760" cy="164592"/>
          </a:xfrm>
          <a:prstGeom prst="rect">
            <a:avLst/>
          </a:prstGeom>
          <a:noFill/>
          <a:ln/>
        </p:spPr>
        <p:txBody>
          <a:bodyPr wrap="square" rtlCol="0" anchor="ctr"/>
          <a:lstStyle/>
          <a:p>
            <a:pPr algn="r" indent="0" marL="0">
              <a:buNone/>
            </a:pPr>
            <a:r>
              <a:rPr lang="en-US" sz="800" dirty="0">
                <a:solidFill>
                  <a:srgbClr val="D0D7D7"/>
                </a:solidFill>
                <a:latin typeface="Calibri" pitchFamily="34" charset="0"/>
                <a:ea typeface="Calibri" pitchFamily="34" charset="-122"/>
                <a:cs typeface="Calibri" pitchFamily="34" charset="-120"/>
              </a:rPr>
              <a:t>5</a:t>
            </a:r>
            <a:endParaRPr lang="en-US" sz="800" dirty="0"/>
          </a:p>
        </p:txBody>
      </p:sp>
      <p:sp>
        <p:nvSpPr>
          <p:cNvPr id="10" name="Shape 8"/>
          <p:cNvSpPr/>
          <p:nvPr/>
        </p:nvSpPr>
        <p:spPr>
          <a:xfrm>
            <a:off x="228600" y="1005840"/>
            <a:ext cx="2011680" cy="914400"/>
          </a:xfrm>
          <a:prstGeom prst="rect">
            <a:avLst/>
          </a:prstGeom>
          <a:solidFill>
            <a:srgbClr val="123836"/>
          </a:solidFill>
          <a:ln w="12700">
            <a:solidFill>
              <a:srgbClr val="1B5E52"/>
            </a:solidFill>
            <a:prstDash val="solid"/>
          </a:ln>
          <a:effectLst>
            <a:outerShdw sx="100000" sy="100000" kx="0" ky="0" algn="bl" rotWithShape="0" blurRad="50800" dist="25400" dir="8100000">
              <a:srgbClr val="000000">
                <a:alpha val="12000"/>
              </a:srgbClr>
            </a:outerShdw>
          </a:effectLst>
        </p:spPr>
      </p:sp>
      <p:sp>
        <p:nvSpPr>
          <p:cNvPr id="11" name="Shape 9"/>
          <p:cNvSpPr/>
          <p:nvPr/>
        </p:nvSpPr>
        <p:spPr>
          <a:xfrm>
            <a:off x="228600" y="1005840"/>
            <a:ext cx="2011680" cy="54864"/>
          </a:xfrm>
          <a:prstGeom prst="rect">
            <a:avLst/>
          </a:prstGeom>
          <a:solidFill>
            <a:srgbClr val="FF6359"/>
          </a:solidFill>
          <a:ln/>
        </p:spPr>
      </p:sp>
      <p:sp>
        <p:nvSpPr>
          <p:cNvPr id="12" name="Text 10"/>
          <p:cNvSpPr/>
          <p:nvPr/>
        </p:nvSpPr>
        <p:spPr>
          <a:xfrm>
            <a:off x="320040" y="1097280"/>
            <a:ext cx="1828800" cy="438912"/>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~8,064</a:t>
            </a:r>
            <a:endParaRPr lang="en-US" sz="2200" dirty="0"/>
          </a:p>
        </p:txBody>
      </p:sp>
      <p:sp>
        <p:nvSpPr>
          <p:cNvPr id="13" name="Text 11"/>
          <p:cNvSpPr/>
          <p:nvPr/>
        </p:nvSpPr>
        <p:spPr>
          <a:xfrm>
            <a:off x="320040" y="1481328"/>
            <a:ext cx="1828800" cy="201168"/>
          </a:xfrm>
          <a:prstGeom prst="rect">
            <a:avLst/>
          </a:prstGeom>
          <a:noFill/>
          <a:ln/>
        </p:spPr>
        <p:txBody>
          <a:bodyPr wrap="square" rtlCol="0" anchor="ctr"/>
          <a:lstStyle/>
          <a:p>
            <a:pPr algn="ctr" indent="0" marL="0">
              <a:buNone/>
            </a:pPr>
            <a:r>
              <a:rPr lang="en-US" sz="900" dirty="0">
                <a:solidFill>
                  <a:srgbClr val="FFD282"/>
                </a:solidFill>
                <a:latin typeface="Calibri" pitchFamily="34" charset="0"/>
                <a:ea typeface="Calibri" pitchFamily="34" charset="-122"/>
                <a:cs typeface="Calibri" pitchFamily="34" charset="-120"/>
              </a:rPr>
              <a:t>Hours</a:t>
            </a:r>
            <a:endParaRPr lang="en-US" sz="900" dirty="0"/>
          </a:p>
        </p:txBody>
      </p:sp>
      <p:sp>
        <p:nvSpPr>
          <p:cNvPr id="14" name="Text 12"/>
          <p:cNvSpPr/>
          <p:nvPr/>
        </p:nvSpPr>
        <p:spPr>
          <a:xfrm>
            <a:off x="274320" y="1627632"/>
            <a:ext cx="1920240" cy="329184"/>
          </a:xfrm>
          <a:prstGeom prst="rect">
            <a:avLst/>
          </a:prstGeom>
          <a:noFill/>
          <a:ln/>
        </p:spPr>
        <p:txBody>
          <a:bodyPr wrap="square" rtlCol="0" anchor="ctr"/>
          <a:lstStyle/>
          <a:p>
            <a:pPr algn="ctr" indent="0" marL="0">
              <a:buNone/>
            </a:pPr>
            <a:r>
              <a:rPr lang="en-US" sz="900" dirty="0">
                <a:solidFill>
                  <a:srgbClr val="D0D7D7"/>
                </a:solidFill>
                <a:latin typeface="Calibri" pitchFamily="34" charset="0"/>
                <a:ea typeface="Calibri" pitchFamily="34" charset="-122"/>
                <a:cs typeface="Calibri" pitchFamily="34" charset="-120"/>
              </a:rPr>
              <a:t>Total Estimated Effort</a:t>
            </a:r>
            <a:endParaRPr lang="en-US" sz="900" dirty="0"/>
          </a:p>
        </p:txBody>
      </p:sp>
      <p:sp>
        <p:nvSpPr>
          <p:cNvPr id="15" name="Shape 13"/>
          <p:cNvSpPr/>
          <p:nvPr/>
        </p:nvSpPr>
        <p:spPr>
          <a:xfrm>
            <a:off x="2414016" y="1005840"/>
            <a:ext cx="2011680" cy="914400"/>
          </a:xfrm>
          <a:prstGeom prst="rect">
            <a:avLst/>
          </a:prstGeom>
          <a:solidFill>
            <a:srgbClr val="123836"/>
          </a:solidFill>
          <a:ln w="12700">
            <a:solidFill>
              <a:srgbClr val="1B5E52"/>
            </a:solidFill>
            <a:prstDash val="solid"/>
          </a:ln>
          <a:effectLst>
            <a:outerShdw sx="100000" sy="100000" kx="0" ky="0" algn="bl" rotWithShape="0" blurRad="50800" dist="25400" dir="8100000">
              <a:srgbClr val="000000">
                <a:alpha val="12000"/>
              </a:srgbClr>
            </a:outerShdw>
          </a:effectLst>
        </p:spPr>
      </p:sp>
      <p:sp>
        <p:nvSpPr>
          <p:cNvPr id="16" name="Shape 14"/>
          <p:cNvSpPr/>
          <p:nvPr/>
        </p:nvSpPr>
        <p:spPr>
          <a:xfrm>
            <a:off x="2414016" y="1005840"/>
            <a:ext cx="2011680" cy="54864"/>
          </a:xfrm>
          <a:prstGeom prst="rect">
            <a:avLst/>
          </a:prstGeom>
          <a:solidFill>
            <a:srgbClr val="FF6359"/>
          </a:solidFill>
          <a:ln/>
        </p:spPr>
      </p:sp>
      <p:sp>
        <p:nvSpPr>
          <p:cNvPr id="17" name="Text 15"/>
          <p:cNvSpPr/>
          <p:nvPr/>
        </p:nvSpPr>
        <p:spPr>
          <a:xfrm>
            <a:off x="2505456" y="1097280"/>
            <a:ext cx="1828800" cy="438912"/>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18" name="Text 16"/>
          <p:cNvSpPr/>
          <p:nvPr/>
        </p:nvSpPr>
        <p:spPr>
          <a:xfrm>
            <a:off x="2505456" y="1481328"/>
            <a:ext cx="1828800" cy="201168"/>
          </a:xfrm>
          <a:prstGeom prst="rect">
            <a:avLst/>
          </a:prstGeom>
          <a:noFill/>
          <a:ln/>
        </p:spPr>
        <p:txBody>
          <a:bodyPr wrap="square" rtlCol="0" anchor="ctr"/>
          <a:lstStyle/>
          <a:p>
            <a:pPr algn="ctr" indent="0" marL="0">
              <a:buNone/>
            </a:pPr>
            <a:r>
              <a:rPr lang="en-US" sz="900" dirty="0">
                <a:solidFill>
                  <a:srgbClr val="FFD282"/>
                </a:solidFill>
                <a:latin typeface="Calibri" pitchFamily="34" charset="0"/>
                <a:ea typeface="Calibri" pitchFamily="34" charset="-122"/>
                <a:cs typeface="Calibri" pitchFamily="34" charset="-120"/>
              </a:rPr>
              <a:t>Count</a:t>
            </a:r>
            <a:endParaRPr lang="en-US" sz="900" dirty="0"/>
          </a:p>
        </p:txBody>
      </p:sp>
      <p:sp>
        <p:nvSpPr>
          <p:cNvPr id="19" name="Text 17"/>
          <p:cNvSpPr/>
          <p:nvPr/>
        </p:nvSpPr>
        <p:spPr>
          <a:xfrm>
            <a:off x="2459736" y="1627632"/>
            <a:ext cx="1920240" cy="329184"/>
          </a:xfrm>
          <a:prstGeom prst="rect">
            <a:avLst/>
          </a:prstGeom>
          <a:noFill/>
          <a:ln/>
        </p:spPr>
        <p:txBody>
          <a:bodyPr wrap="square" rtlCol="0" anchor="ctr"/>
          <a:lstStyle/>
          <a:p>
            <a:pPr algn="ctr" indent="0" marL="0">
              <a:buNone/>
            </a:pPr>
            <a:r>
              <a:rPr lang="en-US" sz="900" dirty="0">
                <a:solidFill>
                  <a:srgbClr val="D0D7D7"/>
                </a:solidFill>
                <a:latin typeface="Calibri" pitchFamily="34" charset="0"/>
                <a:ea typeface="Calibri" pitchFamily="34" charset="-122"/>
                <a:cs typeface="Calibri" pitchFamily="34" charset="-120"/>
              </a:rPr>
              <a:t>Features in Scope</a:t>
            </a:r>
            <a:endParaRPr lang="en-US" sz="900" dirty="0"/>
          </a:p>
        </p:txBody>
      </p:sp>
      <p:sp>
        <p:nvSpPr>
          <p:cNvPr id="20" name="Shape 18"/>
          <p:cNvSpPr/>
          <p:nvPr/>
        </p:nvSpPr>
        <p:spPr>
          <a:xfrm>
            <a:off x="4599432" y="1005840"/>
            <a:ext cx="2011680" cy="914400"/>
          </a:xfrm>
          <a:prstGeom prst="rect">
            <a:avLst/>
          </a:prstGeom>
          <a:solidFill>
            <a:srgbClr val="123836"/>
          </a:solidFill>
          <a:ln w="12700">
            <a:solidFill>
              <a:srgbClr val="1B5E52"/>
            </a:solidFill>
            <a:prstDash val="solid"/>
          </a:ln>
          <a:effectLst>
            <a:outerShdw sx="100000" sy="100000" kx="0" ky="0" algn="bl" rotWithShape="0" blurRad="50800" dist="25400" dir="8100000">
              <a:srgbClr val="000000">
                <a:alpha val="12000"/>
              </a:srgbClr>
            </a:outerShdw>
          </a:effectLst>
        </p:spPr>
      </p:sp>
      <p:sp>
        <p:nvSpPr>
          <p:cNvPr id="21" name="Shape 19"/>
          <p:cNvSpPr/>
          <p:nvPr/>
        </p:nvSpPr>
        <p:spPr>
          <a:xfrm>
            <a:off x="4599432" y="1005840"/>
            <a:ext cx="2011680" cy="54864"/>
          </a:xfrm>
          <a:prstGeom prst="rect">
            <a:avLst/>
          </a:prstGeom>
          <a:solidFill>
            <a:srgbClr val="FF6359"/>
          </a:solidFill>
          <a:ln/>
        </p:spPr>
      </p:sp>
      <p:sp>
        <p:nvSpPr>
          <p:cNvPr id="22" name="Text 20"/>
          <p:cNvSpPr/>
          <p:nvPr/>
        </p:nvSpPr>
        <p:spPr>
          <a:xfrm>
            <a:off x="4690872" y="1097280"/>
            <a:ext cx="1828800" cy="438912"/>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P1</a:t>
            </a:r>
            <a:endParaRPr lang="en-US" sz="2200" dirty="0"/>
          </a:p>
        </p:txBody>
      </p:sp>
      <p:sp>
        <p:nvSpPr>
          <p:cNvPr id="23" name="Text 21"/>
          <p:cNvSpPr/>
          <p:nvPr/>
        </p:nvSpPr>
        <p:spPr>
          <a:xfrm>
            <a:off x="4690872" y="1481328"/>
            <a:ext cx="1828800" cy="201168"/>
          </a:xfrm>
          <a:prstGeom prst="rect">
            <a:avLst/>
          </a:prstGeom>
          <a:noFill/>
          <a:ln/>
        </p:spPr>
        <p:txBody>
          <a:bodyPr wrap="square" rtlCol="0" anchor="ctr"/>
          <a:lstStyle/>
          <a:p>
            <a:pPr algn="ctr" indent="0" marL="0">
              <a:buNone/>
            </a:pPr>
            <a:r>
              <a:rPr lang="en-US" sz="900" dirty="0">
                <a:solidFill>
                  <a:srgbClr val="FFD282"/>
                </a:solidFill>
                <a:latin typeface="Calibri" pitchFamily="34" charset="0"/>
                <a:ea typeface="Calibri" pitchFamily="34" charset="-122"/>
                <a:cs typeface="Calibri" pitchFamily="34" charset="-120"/>
              </a:rPr>
              <a:t>Must Have</a:t>
            </a:r>
            <a:endParaRPr lang="en-US" sz="900" dirty="0"/>
          </a:p>
        </p:txBody>
      </p:sp>
      <p:sp>
        <p:nvSpPr>
          <p:cNvPr id="24" name="Text 22"/>
          <p:cNvSpPr/>
          <p:nvPr/>
        </p:nvSpPr>
        <p:spPr>
          <a:xfrm>
            <a:off x="4645152" y="1627632"/>
            <a:ext cx="1920240" cy="329184"/>
          </a:xfrm>
          <a:prstGeom prst="rect">
            <a:avLst/>
          </a:prstGeom>
          <a:noFill/>
          <a:ln/>
        </p:spPr>
        <p:txBody>
          <a:bodyPr wrap="square" rtlCol="0" anchor="ctr"/>
          <a:lstStyle/>
          <a:p>
            <a:pPr algn="ctr" indent="0" marL="0">
              <a:buNone/>
            </a:pPr>
            <a:r>
              <a:rPr lang="en-US" sz="900" dirty="0">
                <a:solidFill>
                  <a:srgbClr val="D0D7D7"/>
                </a:solidFill>
                <a:latin typeface="Calibri" pitchFamily="34" charset="0"/>
                <a:ea typeface="Calibri" pitchFamily="34" charset="-122"/>
                <a:cs typeface="Calibri" pitchFamily="34" charset="-120"/>
              </a:rPr>
              <a:t>Primary Priority</a:t>
            </a:r>
            <a:endParaRPr lang="en-US" sz="900" dirty="0"/>
          </a:p>
        </p:txBody>
      </p:sp>
      <p:sp>
        <p:nvSpPr>
          <p:cNvPr id="25" name="Shape 23"/>
          <p:cNvSpPr/>
          <p:nvPr/>
        </p:nvSpPr>
        <p:spPr>
          <a:xfrm>
            <a:off x="6784848" y="1005840"/>
            <a:ext cx="2011680" cy="914400"/>
          </a:xfrm>
          <a:prstGeom prst="rect">
            <a:avLst/>
          </a:prstGeom>
          <a:solidFill>
            <a:srgbClr val="123836"/>
          </a:solidFill>
          <a:ln w="12700">
            <a:solidFill>
              <a:srgbClr val="1B5E52"/>
            </a:solidFill>
            <a:prstDash val="solid"/>
          </a:ln>
          <a:effectLst>
            <a:outerShdw sx="100000" sy="100000" kx="0" ky="0" algn="bl" rotWithShape="0" blurRad="50800" dist="25400" dir="8100000">
              <a:srgbClr val="000000">
                <a:alpha val="12000"/>
              </a:srgbClr>
            </a:outerShdw>
          </a:effectLst>
        </p:spPr>
      </p:sp>
      <p:sp>
        <p:nvSpPr>
          <p:cNvPr id="26" name="Shape 24"/>
          <p:cNvSpPr/>
          <p:nvPr/>
        </p:nvSpPr>
        <p:spPr>
          <a:xfrm>
            <a:off x="6784848" y="1005840"/>
            <a:ext cx="2011680" cy="54864"/>
          </a:xfrm>
          <a:prstGeom prst="rect">
            <a:avLst/>
          </a:prstGeom>
          <a:solidFill>
            <a:srgbClr val="FF6359"/>
          </a:solidFill>
          <a:ln/>
        </p:spPr>
      </p:sp>
      <p:sp>
        <p:nvSpPr>
          <p:cNvPr id="27" name="Text 25"/>
          <p:cNvSpPr/>
          <p:nvPr/>
        </p:nvSpPr>
        <p:spPr>
          <a:xfrm>
            <a:off x="6876288" y="1097280"/>
            <a:ext cx="1828800" cy="438912"/>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PI28–PI29</a:t>
            </a:r>
            <a:endParaRPr lang="en-US" sz="2200" dirty="0"/>
          </a:p>
        </p:txBody>
      </p:sp>
      <p:sp>
        <p:nvSpPr>
          <p:cNvPr id="28" name="Text 26"/>
          <p:cNvSpPr/>
          <p:nvPr/>
        </p:nvSpPr>
        <p:spPr>
          <a:xfrm>
            <a:off x="6876288" y="1481328"/>
            <a:ext cx="1828800" cy="201168"/>
          </a:xfrm>
          <a:prstGeom prst="rect">
            <a:avLst/>
          </a:prstGeom>
          <a:noFill/>
          <a:ln/>
        </p:spPr>
        <p:txBody>
          <a:bodyPr wrap="square" rtlCol="0" anchor="ctr"/>
          <a:lstStyle/>
          <a:p>
            <a:pPr algn="ctr" indent="0" marL="0">
              <a:buNone/>
            </a:pPr>
            <a:r>
              <a:rPr lang="en-US" sz="900" dirty="0">
                <a:solidFill>
                  <a:srgbClr val="FFD282"/>
                </a:solidFill>
                <a:latin typeface="Calibri" pitchFamily="34" charset="0"/>
                <a:ea typeface="Calibri" pitchFamily="34" charset="-122"/>
                <a:cs typeface="Calibri" pitchFamily="34" charset="-120"/>
              </a:rPr>
              <a:t>Program Increments</a:t>
            </a:r>
            <a:endParaRPr lang="en-US" sz="900" dirty="0"/>
          </a:p>
        </p:txBody>
      </p:sp>
      <p:sp>
        <p:nvSpPr>
          <p:cNvPr id="29" name="Text 27"/>
          <p:cNvSpPr/>
          <p:nvPr/>
        </p:nvSpPr>
        <p:spPr>
          <a:xfrm>
            <a:off x="6830568" y="1627632"/>
            <a:ext cx="1920240" cy="329184"/>
          </a:xfrm>
          <a:prstGeom prst="rect">
            <a:avLst/>
          </a:prstGeom>
          <a:noFill/>
          <a:ln/>
        </p:spPr>
        <p:txBody>
          <a:bodyPr wrap="square" rtlCol="0" anchor="ctr"/>
          <a:lstStyle/>
          <a:p>
            <a:pPr algn="ctr" indent="0" marL="0">
              <a:buNone/>
            </a:pPr>
            <a:r>
              <a:rPr lang="en-US" sz="900" dirty="0">
                <a:solidFill>
                  <a:srgbClr val="D0D7D7"/>
                </a:solidFill>
                <a:latin typeface="Calibri" pitchFamily="34" charset="0"/>
                <a:ea typeface="Calibri" pitchFamily="34" charset="-122"/>
                <a:cs typeface="Calibri" pitchFamily="34" charset="-120"/>
              </a:rPr>
              <a:t>Planned PI Window</a:t>
            </a:r>
            <a:endParaRPr lang="en-US" sz="900" dirty="0"/>
          </a:p>
        </p:txBody>
      </p:sp>
      <p:sp>
        <p:nvSpPr>
          <p:cNvPr id="30" name="Text 28"/>
          <p:cNvSpPr/>
          <p:nvPr/>
        </p:nvSpPr>
        <p:spPr>
          <a:xfrm>
            <a:off x="228600" y="1965960"/>
            <a:ext cx="2743200" cy="228600"/>
          </a:xfrm>
          <a:prstGeom prst="rect">
            <a:avLst/>
          </a:prstGeom>
          <a:noFill/>
          <a:ln/>
        </p:spPr>
        <p:txBody>
          <a:bodyPr wrap="square" rtlCol="0" anchor="ctr"/>
          <a:lstStyle/>
          <a:p>
            <a:pPr indent="0" marL="0">
              <a:buNone/>
            </a:pPr>
            <a:r>
              <a:rPr lang="en-US" sz="1000" b="1" dirty="0">
                <a:solidFill>
                  <a:srgbClr val="FF6359"/>
                </a:solidFill>
              </a:rPr>
              <a:t>Business Scope</a:t>
            </a:r>
            <a:endParaRPr lang="en-US" sz="1000" dirty="0"/>
          </a:p>
        </p:txBody>
      </p:sp>
      <p:sp>
        <p:nvSpPr>
          <p:cNvPr id="31" name="Text 29"/>
          <p:cNvSpPr/>
          <p:nvPr/>
        </p:nvSpPr>
        <p:spPr>
          <a:xfrm>
            <a:off x="228600" y="2212848"/>
            <a:ext cx="2743200" cy="685800"/>
          </a:xfrm>
          <a:prstGeom prst="rect">
            <a:avLst/>
          </a:prstGeom>
          <a:noFill/>
          <a:ln/>
        </p:spPr>
        <p:txBody>
          <a:bodyPr wrap="square" rtlCol="0" anchor="ctr"/>
          <a:lstStyle/>
          <a:p>
            <a:pPr indent="0" marL="0">
              <a:buNone/>
            </a:pPr>
            <a:r>
              <a:rPr lang="en-US" sz="900" dirty="0">
                <a:solidFill>
                  <a:srgbClr val="141E1E"/>
                </a:solidFill>
              </a:rPr>
              <a:t>Provides tax authorities with a unified financial ledger for each taxpayer, recording all transactions including payments, credits, adjustments, and write-offs. Ensures accurate account balances and supports reconciliation across all tax types.</a:t>
            </a:r>
            <a:endParaRPr lang="en-US" sz="900" dirty="0"/>
          </a:p>
        </p:txBody>
      </p:sp>
      <p:sp>
        <p:nvSpPr>
          <p:cNvPr id="32" name="Text 30"/>
          <p:cNvSpPr/>
          <p:nvPr/>
        </p:nvSpPr>
        <p:spPr>
          <a:xfrm>
            <a:off x="228600" y="2944368"/>
            <a:ext cx="2743200" cy="201168"/>
          </a:xfrm>
          <a:prstGeom prst="rect">
            <a:avLst/>
          </a:prstGeom>
          <a:noFill/>
          <a:ln/>
        </p:spPr>
        <p:txBody>
          <a:bodyPr wrap="square" rtlCol="0" anchor="ctr"/>
          <a:lstStyle/>
          <a:p>
            <a:pPr indent="0" marL="0">
              <a:buNone/>
            </a:pPr>
            <a:r>
              <a:rPr lang="en-US" sz="1000" b="1" dirty="0">
                <a:solidFill>
                  <a:srgbClr val="FF6359"/>
                </a:solidFill>
              </a:rPr>
              <a:t>Key Investment Benefits</a:t>
            </a:r>
            <a:endParaRPr lang="en-US" sz="1000" dirty="0"/>
          </a:p>
        </p:txBody>
      </p:sp>
      <p:sp>
        <p:nvSpPr>
          <p:cNvPr id="33" name="Text 31"/>
          <p:cNvSpPr/>
          <p:nvPr/>
        </p:nvSpPr>
        <p:spPr>
          <a:xfrm>
            <a:off x="228600" y="3172968"/>
            <a:ext cx="2743200" cy="749808"/>
          </a:xfrm>
          <a:prstGeom prst="rect">
            <a:avLst/>
          </a:prstGeom>
          <a:noFill/>
          <a:ln/>
        </p:spPr>
        <p:txBody>
          <a:bodyPr wrap="square" rtlCol="0" anchor="ctr"/>
          <a:lstStyle/>
          <a:p>
            <a:pPr marL="342900" indent="-342900">
              <a:buSzPct val="100000"/>
              <a:buChar char="•"/>
            </a:pPr>
            <a:r>
              <a:rPr lang="en-US" sz="900" dirty="0">
                <a:solidFill>
                  <a:srgbClr val="4A5C5A"/>
                </a:solidFill>
              </a:rPr>
              <a:t>Real-time balance visibility reduces disputes and improves taxpayer trust</a:t>
            </a:r>
            <a:endParaRPr lang="en-US" sz="900" dirty="0"/>
          </a:p>
          <a:p>
            <a:pPr marL="342900" indent="-342900">
              <a:buSzPct val="100000"/>
              <a:buChar char="•"/>
            </a:pPr>
            <a:r>
              <a:rPr lang="en-US" sz="900" dirty="0">
                <a:solidFill>
                  <a:srgbClr val="4A5C5A"/>
                </a:solidFill>
              </a:rPr>
              <a:t>Automated reconciliation eliminates manual posting errors</a:t>
            </a:r>
            <a:endParaRPr lang="en-US" sz="900" dirty="0"/>
          </a:p>
          <a:p>
            <a:pPr marL="342900" indent="-342900">
              <a:buSzPct val="100000"/>
              <a:buChar char="•"/>
            </a:pPr>
            <a:r>
              <a:rPr lang="en-US" sz="900" dirty="0">
                <a:solidFill>
                  <a:srgbClr val="4A5C5A"/>
                </a:solidFill>
              </a:rPr>
              <a:t>Single ledger supports multi-tax-type accounting for all periods</a:t>
            </a:r>
            <a:endParaRPr lang="en-US" sz="900" dirty="0"/>
          </a:p>
        </p:txBody>
      </p:sp>
      <p:sp>
        <p:nvSpPr>
          <p:cNvPr id="34" name="Text 32"/>
          <p:cNvSpPr/>
          <p:nvPr/>
        </p:nvSpPr>
        <p:spPr>
          <a:xfrm>
            <a:off x="3108960" y="1965960"/>
            <a:ext cx="3017520" cy="228600"/>
          </a:xfrm>
          <a:prstGeom prst="rect">
            <a:avLst/>
          </a:prstGeom>
          <a:noFill/>
          <a:ln/>
        </p:spPr>
        <p:txBody>
          <a:bodyPr wrap="square" rtlCol="0" anchor="ctr"/>
          <a:lstStyle/>
          <a:p>
            <a:pPr indent="0" marL="0">
              <a:buNone/>
            </a:pPr>
            <a:r>
              <a:rPr lang="en-US" sz="1000" b="1" dirty="0">
                <a:solidFill>
                  <a:srgbClr val="FF6359"/>
                </a:solidFill>
              </a:rPr>
              <a:t>Estimated Effort by Feature Area</a:t>
            </a:r>
            <a:endParaRPr lang="en-US" sz="1000" dirty="0"/>
          </a:p>
        </p:txBody>
      </p:sp>
      <p:graphicFrame>
        <p:nvGraphicFramePr>
          <p:cNvPr id="35" name="Chart 0" descr=""/>
          <p:cNvGraphicFramePr/>
          <p:nvPr/>
        </p:nvGraphicFramePr>
        <p:xfrm>
          <a:off x="3108960" y="2212848"/>
          <a:ext cx="3017520" cy="1828800"/>
        </p:xfrm>
        <a:graphic xmlns:a="http://schemas.openxmlformats.org/drawingml/2006/main">
          <a:graphicData uri="http://schemas.openxmlformats.org/drawingml/2006/chart">
            <c:chart xmlns:c="http://schemas.openxmlformats.org/drawingml/2006/chart" r:id="rId1"/>
          </a:graphicData>
        </a:graphic>
      </p:graphicFrame>
      <p:sp>
        <p:nvSpPr>
          <p:cNvPr id="36" name="Text 33"/>
          <p:cNvSpPr/>
          <p:nvPr/>
        </p:nvSpPr>
        <p:spPr>
          <a:xfrm>
            <a:off x="6263640" y="1965960"/>
            <a:ext cx="2651760" cy="228600"/>
          </a:xfrm>
          <a:prstGeom prst="rect">
            <a:avLst/>
          </a:prstGeom>
          <a:noFill/>
          <a:ln/>
        </p:spPr>
        <p:txBody>
          <a:bodyPr wrap="square" rtlCol="0" anchor="ctr"/>
          <a:lstStyle/>
          <a:p>
            <a:pPr indent="0" marL="0">
              <a:buNone/>
            </a:pPr>
            <a:r>
              <a:rPr lang="en-US" sz="1000" b="1" dirty="0">
                <a:solidFill>
                  <a:srgbClr val="FF6359"/>
                </a:solidFill>
              </a:rPr>
              <a:t>Priority Distribution</a:t>
            </a:r>
            <a:endParaRPr lang="en-US" sz="1000" dirty="0"/>
          </a:p>
        </p:txBody>
      </p:sp>
      <p:graphicFrame>
        <p:nvGraphicFramePr>
          <p:cNvPr id="37" name="Chart 1" descr=""/>
          <p:cNvGraphicFramePr/>
          <p:nvPr/>
        </p:nvGraphicFramePr>
        <p:xfrm>
          <a:off x="6263640" y="2212848"/>
          <a:ext cx="2651760" cy="914400"/>
        </p:xfrm>
        <a:graphic xmlns:a="http://schemas.openxmlformats.org/drawingml/2006/main">
          <a:graphicData uri="http://schemas.openxmlformats.org/drawingml/2006/chart">
            <c:chart xmlns:c="http://schemas.openxmlformats.org/drawingml/2006/chart" r:id="rId2"/>
          </a:graphicData>
        </a:graphic>
      </p:graphicFrame>
      <p:sp>
        <p:nvSpPr>
          <p:cNvPr id="38" name="Text 34"/>
          <p:cNvSpPr/>
          <p:nvPr/>
        </p:nvSpPr>
        <p:spPr>
          <a:xfrm>
            <a:off x="228600" y="3886200"/>
            <a:ext cx="914400" cy="201168"/>
          </a:xfrm>
          <a:prstGeom prst="rect">
            <a:avLst/>
          </a:prstGeom>
          <a:noFill/>
          <a:ln/>
        </p:spPr>
        <p:txBody>
          <a:bodyPr wrap="square" rtlCol="0" anchor="ctr"/>
          <a:lstStyle/>
          <a:p>
            <a:pPr indent="0" marL="0">
              <a:buNone/>
            </a:pPr>
            <a:r>
              <a:rPr lang="en-US" sz="1000" b="1" dirty="0">
                <a:solidFill>
                  <a:srgbClr val="FF6359"/>
                </a:solidFill>
              </a:rPr>
              <a:t>PI Planning</a:t>
            </a:r>
            <a:endParaRPr lang="en-US" sz="1000" dirty="0"/>
          </a:p>
        </p:txBody>
      </p:sp>
      <p:sp>
        <p:nvSpPr>
          <p:cNvPr id="39" name="Shape 35"/>
          <p:cNvSpPr/>
          <p:nvPr/>
        </p:nvSpPr>
        <p:spPr>
          <a:xfrm>
            <a:off x="228600" y="4114800"/>
            <a:ext cx="2743200" cy="658368"/>
          </a:xfrm>
          <a:prstGeom prst="rect">
            <a:avLst/>
          </a:prstGeom>
          <a:solidFill>
            <a:srgbClr val="D0D7D7"/>
          </a:solidFill>
          <a:ln/>
        </p:spPr>
      </p:sp>
      <p:sp>
        <p:nvSpPr>
          <p:cNvPr id="40" name="Text 36"/>
          <p:cNvSpPr/>
          <p:nvPr/>
        </p:nvSpPr>
        <p:spPr>
          <a:xfrm>
            <a:off x="320040" y="4142232"/>
            <a:ext cx="502920" cy="201168"/>
          </a:xfrm>
          <a:prstGeom prst="rect">
            <a:avLst/>
          </a:prstGeom>
          <a:noFill/>
          <a:ln/>
        </p:spPr>
        <p:txBody>
          <a:bodyPr wrap="square" rtlCol="0" anchor="ctr"/>
          <a:lstStyle/>
          <a:p>
            <a:pPr indent="0" marL="0">
              <a:buNone/>
            </a:pPr>
            <a:r>
              <a:rPr lang="en-US" sz="1000" b="1" dirty="0">
                <a:solidFill>
                  <a:srgbClr val="FFD282"/>
                </a:solidFill>
              </a:rPr>
              <a:t>PI27</a:t>
            </a:r>
            <a:endParaRPr lang="en-US" sz="1000" dirty="0"/>
          </a:p>
        </p:txBody>
      </p:sp>
      <p:sp>
        <p:nvSpPr>
          <p:cNvPr id="41" name="Text 37"/>
          <p:cNvSpPr/>
          <p:nvPr/>
        </p:nvSpPr>
        <p:spPr>
          <a:xfrm>
            <a:off x="850392" y="4133088"/>
            <a:ext cx="2057400" cy="402336"/>
          </a:xfrm>
          <a:prstGeom prst="rect">
            <a:avLst/>
          </a:prstGeom>
          <a:noFill/>
          <a:ln/>
        </p:spPr>
        <p:txBody>
          <a:bodyPr wrap="square" rtlCol="0" anchor="ctr"/>
          <a:lstStyle/>
          <a:p>
            <a:pPr indent="0" marL="0">
              <a:buNone/>
            </a:pPr>
            <a:r>
              <a:rPr lang="en-US" sz="800" dirty="0">
                <a:solidFill>
                  <a:srgbClr val="FFFFFF"/>
                </a:solidFill>
              </a:rPr>
              <a:t>No features</a:t>
            </a:r>
            <a:endParaRPr lang="en-US" sz="800" dirty="0"/>
          </a:p>
        </p:txBody>
      </p:sp>
      <p:sp>
        <p:nvSpPr>
          <p:cNvPr id="42" name="Shape 38"/>
          <p:cNvSpPr/>
          <p:nvPr/>
        </p:nvSpPr>
        <p:spPr>
          <a:xfrm>
            <a:off x="3127248" y="4114800"/>
            <a:ext cx="2743200" cy="658368"/>
          </a:xfrm>
          <a:prstGeom prst="rect">
            <a:avLst/>
          </a:prstGeom>
          <a:solidFill>
            <a:srgbClr val="123836"/>
          </a:solidFill>
          <a:ln/>
        </p:spPr>
      </p:sp>
      <p:sp>
        <p:nvSpPr>
          <p:cNvPr id="43" name="Text 39"/>
          <p:cNvSpPr/>
          <p:nvPr/>
        </p:nvSpPr>
        <p:spPr>
          <a:xfrm>
            <a:off x="3218688" y="4142232"/>
            <a:ext cx="502920" cy="201168"/>
          </a:xfrm>
          <a:prstGeom prst="rect">
            <a:avLst/>
          </a:prstGeom>
          <a:noFill/>
          <a:ln/>
        </p:spPr>
        <p:txBody>
          <a:bodyPr wrap="square" rtlCol="0" anchor="ctr"/>
          <a:lstStyle/>
          <a:p>
            <a:pPr indent="0" marL="0">
              <a:buNone/>
            </a:pPr>
            <a:r>
              <a:rPr lang="en-US" sz="1000" b="1" dirty="0">
                <a:solidFill>
                  <a:srgbClr val="FFD282"/>
                </a:solidFill>
              </a:rPr>
              <a:t>PI28</a:t>
            </a:r>
            <a:endParaRPr lang="en-US" sz="1000" dirty="0"/>
          </a:p>
        </p:txBody>
      </p:sp>
      <p:sp>
        <p:nvSpPr>
          <p:cNvPr id="44" name="Text 40"/>
          <p:cNvSpPr/>
          <p:nvPr/>
        </p:nvSpPr>
        <p:spPr>
          <a:xfrm>
            <a:off x="3749040" y="4133088"/>
            <a:ext cx="2057400" cy="402336"/>
          </a:xfrm>
          <a:prstGeom prst="rect">
            <a:avLst/>
          </a:prstGeom>
          <a:noFill/>
          <a:ln/>
        </p:spPr>
        <p:txBody>
          <a:bodyPr wrap="square" rtlCol="0" anchor="ctr"/>
          <a:lstStyle/>
          <a:p>
            <a:pPr indent="0" marL="0">
              <a:buNone/>
            </a:pPr>
            <a:r>
              <a:rPr lang="en-US" sz="800" dirty="0">
                <a:solidFill>
                  <a:srgbClr val="FFFFFF"/>
                </a:solidFill>
              </a:rPr>
              <a:t>General Ledger Core · Transaction Processing</a:t>
            </a:r>
            <a:endParaRPr lang="en-US" sz="800" dirty="0"/>
          </a:p>
        </p:txBody>
      </p:sp>
      <p:sp>
        <p:nvSpPr>
          <p:cNvPr id="45" name="Shape 41"/>
          <p:cNvSpPr/>
          <p:nvPr/>
        </p:nvSpPr>
        <p:spPr>
          <a:xfrm>
            <a:off x="6025896" y="4114800"/>
            <a:ext cx="2743200" cy="658368"/>
          </a:xfrm>
          <a:prstGeom prst="rect">
            <a:avLst/>
          </a:prstGeom>
          <a:solidFill>
            <a:srgbClr val="1B5E52"/>
          </a:solidFill>
          <a:ln/>
        </p:spPr>
      </p:sp>
      <p:sp>
        <p:nvSpPr>
          <p:cNvPr id="46" name="Text 42"/>
          <p:cNvSpPr/>
          <p:nvPr/>
        </p:nvSpPr>
        <p:spPr>
          <a:xfrm>
            <a:off x="6117336" y="4142232"/>
            <a:ext cx="502920" cy="201168"/>
          </a:xfrm>
          <a:prstGeom prst="rect">
            <a:avLst/>
          </a:prstGeom>
          <a:noFill/>
          <a:ln/>
        </p:spPr>
        <p:txBody>
          <a:bodyPr wrap="square" rtlCol="0" anchor="ctr"/>
          <a:lstStyle/>
          <a:p>
            <a:pPr indent="0" marL="0">
              <a:buNone/>
            </a:pPr>
            <a:r>
              <a:rPr lang="en-US" sz="1000" b="1" dirty="0">
                <a:solidFill>
                  <a:srgbClr val="FFD282"/>
                </a:solidFill>
              </a:rPr>
              <a:t>PI29</a:t>
            </a:r>
            <a:endParaRPr lang="en-US" sz="1000" dirty="0"/>
          </a:p>
        </p:txBody>
      </p:sp>
      <p:sp>
        <p:nvSpPr>
          <p:cNvPr id="47" name="Text 43"/>
          <p:cNvSpPr/>
          <p:nvPr/>
        </p:nvSpPr>
        <p:spPr>
          <a:xfrm>
            <a:off x="6647688" y="4133088"/>
            <a:ext cx="2057400" cy="402336"/>
          </a:xfrm>
          <a:prstGeom prst="rect">
            <a:avLst/>
          </a:prstGeom>
          <a:noFill/>
          <a:ln/>
        </p:spPr>
        <p:txBody>
          <a:bodyPr wrap="square" rtlCol="0" anchor="ctr"/>
          <a:lstStyle/>
          <a:p>
            <a:pPr indent="0" marL="0">
              <a:buNone/>
            </a:pPr>
            <a:r>
              <a:rPr lang="en-US" sz="800" dirty="0">
                <a:solidFill>
                  <a:srgbClr val="FFFFFF"/>
                </a:solidFill>
              </a:rPr>
              <a:t>Account Reconciliation · Balance Management</a:t>
            </a:r>
            <a:endParaRPr lang="en-US" sz="800" dirty="0"/>
          </a:p>
        </p:txBody>
      </p:sp>
      <p:sp>
        <p:nvSpPr>
          <p:cNvPr id="48" name="Shape 44"/>
          <p:cNvSpPr/>
          <p:nvPr/>
        </p:nvSpPr>
        <p:spPr>
          <a:xfrm>
            <a:off x="0" y="4617720"/>
            <a:ext cx="9144000" cy="347472"/>
          </a:xfrm>
          <a:prstGeom prst="rect">
            <a:avLst/>
          </a:prstGeom>
          <a:solidFill>
            <a:srgbClr val="123836"/>
          </a:solidFill>
          <a:ln/>
        </p:spPr>
      </p:sp>
      <p:sp>
        <p:nvSpPr>
          <p:cNvPr id="49" name="Shape 45"/>
          <p:cNvSpPr/>
          <p:nvPr/>
        </p:nvSpPr>
        <p:spPr>
          <a:xfrm>
            <a:off x="0" y="4617720"/>
            <a:ext cx="73152" cy="347472"/>
          </a:xfrm>
          <a:prstGeom prst="rect">
            <a:avLst/>
          </a:prstGeom>
          <a:solidFill>
            <a:srgbClr val="FFD282"/>
          </a:solidFill>
          <a:ln/>
        </p:spPr>
      </p:sp>
      <p:sp>
        <p:nvSpPr>
          <p:cNvPr id="50" name="Text 46"/>
          <p:cNvSpPr/>
          <p:nvPr/>
        </p:nvSpPr>
        <p:spPr>
          <a:xfrm>
            <a:off x="137160" y="4617720"/>
            <a:ext cx="8869680" cy="347472"/>
          </a:xfrm>
          <a:prstGeom prst="rect">
            <a:avLst/>
          </a:prstGeom>
          <a:noFill/>
          <a:ln/>
        </p:spPr>
        <p:txBody>
          <a:bodyPr wrap="square" rtlCol="0" anchor="ctr"/>
          <a:lstStyle/>
          <a:p>
            <a:pPr indent="0" marL="0">
              <a:buNone/>
            </a:pPr>
            <a:r>
              <a:rPr lang="en-US" sz="750" dirty="0">
                <a:solidFill>
                  <a:srgbClr val="D0D7D7"/>
                </a:solidFill>
              </a:rPr>
              <a:t>Second-largest investment — foundational to revenue assurance   ·   PI28 delivery must be confirmed   ·   All features P1/P2 — no descoping without revenue risk</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6"/>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23836"/>
          </a:solidFill>
          <a:ln/>
        </p:spPr>
      </p:sp>
      <p:sp>
        <p:nvSpPr>
          <p:cNvPr id="3" name="Shape 1"/>
          <p:cNvSpPr/>
          <p:nvPr/>
        </p:nvSpPr>
        <p:spPr>
          <a:xfrm>
            <a:off x="0" y="0"/>
            <a:ext cx="73152" cy="960120"/>
          </a:xfrm>
          <a:prstGeom prst="rect">
            <a:avLst/>
          </a:prstGeom>
          <a:solidFill>
            <a:srgbClr val="FF6359"/>
          </a:solidFill>
          <a:ln/>
        </p:spPr>
      </p:sp>
      <p:sp>
        <p:nvSpPr>
          <p:cNvPr id="4" name="Text 2"/>
          <p:cNvSpPr/>
          <p:nvPr/>
        </p:nvSpPr>
        <p:spPr>
          <a:xfrm>
            <a:off x="182880" y="64008"/>
            <a:ext cx="6400800" cy="50292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Billing, Assessments &amp; Installments</a:t>
            </a:r>
            <a:endParaRPr lang="en-US" sz="2000" dirty="0"/>
          </a:p>
        </p:txBody>
      </p:sp>
      <p:sp>
        <p:nvSpPr>
          <p:cNvPr id="5" name="Text 3"/>
          <p:cNvSpPr/>
          <p:nvPr/>
        </p:nvSpPr>
        <p:spPr>
          <a:xfrm>
            <a:off x="182880" y="548640"/>
            <a:ext cx="8229600" cy="347472"/>
          </a:xfrm>
          <a:prstGeom prst="rect">
            <a:avLst/>
          </a:prstGeom>
          <a:noFill/>
          <a:ln/>
        </p:spPr>
        <p:txBody>
          <a:bodyPr wrap="square" rtlCol="0" anchor="ctr"/>
          <a:lstStyle/>
          <a:p>
            <a:pPr indent="0" marL="0">
              <a:buNone/>
            </a:pPr>
            <a:r>
              <a:rPr lang="en-US" sz="1100" dirty="0">
                <a:solidFill>
                  <a:srgbClr val="73AA87"/>
                </a:solidFill>
                <a:latin typeface="Calibri" pitchFamily="34" charset="0"/>
                <a:ea typeface="Calibri" pitchFamily="34" charset="-122"/>
                <a:cs typeface="Calibri" pitchFamily="34" charset="-120"/>
              </a:rPr>
              <a:t>Core Revenue Management Capabilities | Initiative Detail</a:t>
            </a:r>
            <a:endParaRPr lang="en-US" sz="1100" dirty="0"/>
          </a:p>
        </p:txBody>
      </p:sp>
      <p:sp>
        <p:nvSpPr>
          <p:cNvPr id="6" name="Text 4"/>
          <p:cNvSpPr/>
          <p:nvPr/>
        </p:nvSpPr>
        <p:spPr>
          <a:xfrm>
            <a:off x="6858000" y="73152"/>
            <a:ext cx="2103120" cy="365760"/>
          </a:xfrm>
          <a:prstGeom prst="rect">
            <a:avLst/>
          </a:prstGeom>
          <a:noFill/>
          <a:ln/>
        </p:spPr>
        <p:txBody>
          <a:bodyPr wrap="square" rtlCol="0" anchor="ctr"/>
          <a:lstStyle/>
          <a:p>
            <a:pPr algn="r" indent="0" marL="0">
              <a:buNone/>
            </a:pPr>
            <a:r>
              <a:rPr lang="en-US" sz="1200" b="1" dirty="0">
                <a:solidFill>
                  <a:srgbClr val="73AA87"/>
                </a:solidFill>
                <a:latin typeface="Calibri" pitchFamily="34" charset="0"/>
                <a:ea typeface="Calibri" pitchFamily="34" charset="-122"/>
                <a:cs typeface="Calibri" pitchFamily="34" charset="-120"/>
              </a:rPr>
              <a:t>Netcompany</a:t>
            </a:r>
            <a:endParaRPr lang="en-US" sz="1200" dirty="0"/>
          </a:p>
        </p:txBody>
      </p:sp>
      <p:sp>
        <p:nvSpPr>
          <p:cNvPr id="7" name="Shape 5"/>
          <p:cNvSpPr/>
          <p:nvPr/>
        </p:nvSpPr>
        <p:spPr>
          <a:xfrm>
            <a:off x="0" y="4983480"/>
            <a:ext cx="9144000" cy="160020"/>
          </a:xfrm>
          <a:prstGeom prst="rect">
            <a:avLst/>
          </a:prstGeom>
          <a:solidFill>
            <a:srgbClr val="123836"/>
          </a:solidFill>
          <a:ln/>
        </p:spPr>
      </p:sp>
      <p:sp>
        <p:nvSpPr>
          <p:cNvPr id="8" name="Text 6"/>
          <p:cNvSpPr/>
          <p:nvPr/>
        </p:nvSpPr>
        <p:spPr>
          <a:xfrm>
            <a:off x="137160" y="4974336"/>
            <a:ext cx="6400800" cy="164592"/>
          </a:xfrm>
          <a:prstGeom prst="rect">
            <a:avLst/>
          </a:prstGeom>
          <a:noFill/>
          <a:ln/>
        </p:spPr>
        <p:txBody>
          <a:bodyPr wrap="square" rtlCol="0" anchor="ctr"/>
          <a:lstStyle/>
          <a:p>
            <a:pPr indent="0" marL="0">
              <a:buNone/>
            </a:pPr>
            <a:r>
              <a:rPr lang="en-US" sz="800" dirty="0">
                <a:solidFill>
                  <a:srgbClr val="D0D7D7"/>
                </a:solidFill>
                <a:latin typeface="Calibri" pitchFamily="34" charset="0"/>
                <a:ea typeface="Calibri" pitchFamily="34" charset="-122"/>
                <a:cs typeface="Calibri" pitchFamily="34" charset="-120"/>
              </a:rPr>
              <a:t>Solon Tax Product Roadmap 2026 | SteerCo</a:t>
            </a:r>
            <a:endParaRPr lang="en-US" sz="800" dirty="0"/>
          </a:p>
        </p:txBody>
      </p:sp>
      <p:sp>
        <p:nvSpPr>
          <p:cNvPr id="9" name="Text 7"/>
          <p:cNvSpPr/>
          <p:nvPr/>
        </p:nvSpPr>
        <p:spPr>
          <a:xfrm>
            <a:off x="8686800" y="4974336"/>
            <a:ext cx="365760" cy="164592"/>
          </a:xfrm>
          <a:prstGeom prst="rect">
            <a:avLst/>
          </a:prstGeom>
          <a:noFill/>
          <a:ln/>
        </p:spPr>
        <p:txBody>
          <a:bodyPr wrap="square" rtlCol="0" anchor="ctr"/>
          <a:lstStyle/>
          <a:p>
            <a:pPr algn="r" indent="0" marL="0">
              <a:buNone/>
            </a:pPr>
            <a:r>
              <a:rPr lang="en-US" sz="800" dirty="0">
                <a:solidFill>
                  <a:srgbClr val="D0D7D7"/>
                </a:solidFill>
                <a:latin typeface="Calibri" pitchFamily="34" charset="0"/>
                <a:ea typeface="Calibri" pitchFamily="34" charset="-122"/>
                <a:cs typeface="Calibri" pitchFamily="34" charset="-120"/>
              </a:rPr>
              <a:t>6</a:t>
            </a:r>
            <a:endParaRPr lang="en-US" sz="800" dirty="0"/>
          </a:p>
        </p:txBody>
      </p:sp>
      <p:sp>
        <p:nvSpPr>
          <p:cNvPr id="10" name="Shape 8"/>
          <p:cNvSpPr/>
          <p:nvPr/>
        </p:nvSpPr>
        <p:spPr>
          <a:xfrm>
            <a:off x="228600" y="1005840"/>
            <a:ext cx="2011680" cy="914400"/>
          </a:xfrm>
          <a:prstGeom prst="rect">
            <a:avLst/>
          </a:prstGeom>
          <a:solidFill>
            <a:srgbClr val="123836"/>
          </a:solidFill>
          <a:ln w="12700">
            <a:solidFill>
              <a:srgbClr val="1B5E52"/>
            </a:solidFill>
            <a:prstDash val="solid"/>
          </a:ln>
          <a:effectLst>
            <a:outerShdw sx="100000" sy="100000" kx="0" ky="0" algn="bl" rotWithShape="0" blurRad="50800" dist="25400" dir="8100000">
              <a:srgbClr val="000000">
                <a:alpha val="12000"/>
              </a:srgbClr>
            </a:outerShdw>
          </a:effectLst>
        </p:spPr>
      </p:sp>
      <p:sp>
        <p:nvSpPr>
          <p:cNvPr id="11" name="Shape 9"/>
          <p:cNvSpPr/>
          <p:nvPr/>
        </p:nvSpPr>
        <p:spPr>
          <a:xfrm>
            <a:off x="228600" y="1005840"/>
            <a:ext cx="2011680" cy="54864"/>
          </a:xfrm>
          <a:prstGeom prst="rect">
            <a:avLst/>
          </a:prstGeom>
          <a:solidFill>
            <a:srgbClr val="FF6359"/>
          </a:solidFill>
          <a:ln/>
        </p:spPr>
      </p:sp>
      <p:sp>
        <p:nvSpPr>
          <p:cNvPr id="12" name="Text 10"/>
          <p:cNvSpPr/>
          <p:nvPr/>
        </p:nvSpPr>
        <p:spPr>
          <a:xfrm>
            <a:off x="320040" y="1097280"/>
            <a:ext cx="1828800" cy="438912"/>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~2,880</a:t>
            </a:r>
            <a:endParaRPr lang="en-US" sz="2200" dirty="0"/>
          </a:p>
        </p:txBody>
      </p:sp>
      <p:sp>
        <p:nvSpPr>
          <p:cNvPr id="13" name="Text 11"/>
          <p:cNvSpPr/>
          <p:nvPr/>
        </p:nvSpPr>
        <p:spPr>
          <a:xfrm>
            <a:off x="320040" y="1481328"/>
            <a:ext cx="1828800" cy="201168"/>
          </a:xfrm>
          <a:prstGeom prst="rect">
            <a:avLst/>
          </a:prstGeom>
          <a:noFill/>
          <a:ln/>
        </p:spPr>
        <p:txBody>
          <a:bodyPr wrap="square" rtlCol="0" anchor="ctr"/>
          <a:lstStyle/>
          <a:p>
            <a:pPr algn="ctr" indent="0" marL="0">
              <a:buNone/>
            </a:pPr>
            <a:r>
              <a:rPr lang="en-US" sz="900" dirty="0">
                <a:solidFill>
                  <a:srgbClr val="FFD282"/>
                </a:solidFill>
                <a:latin typeface="Calibri" pitchFamily="34" charset="0"/>
                <a:ea typeface="Calibri" pitchFamily="34" charset="-122"/>
                <a:cs typeface="Calibri" pitchFamily="34" charset="-120"/>
              </a:rPr>
              <a:t>Hours</a:t>
            </a:r>
            <a:endParaRPr lang="en-US" sz="900" dirty="0"/>
          </a:p>
        </p:txBody>
      </p:sp>
      <p:sp>
        <p:nvSpPr>
          <p:cNvPr id="14" name="Text 12"/>
          <p:cNvSpPr/>
          <p:nvPr/>
        </p:nvSpPr>
        <p:spPr>
          <a:xfrm>
            <a:off x="274320" y="1627632"/>
            <a:ext cx="1920240" cy="329184"/>
          </a:xfrm>
          <a:prstGeom prst="rect">
            <a:avLst/>
          </a:prstGeom>
          <a:noFill/>
          <a:ln/>
        </p:spPr>
        <p:txBody>
          <a:bodyPr wrap="square" rtlCol="0" anchor="ctr"/>
          <a:lstStyle/>
          <a:p>
            <a:pPr algn="ctr" indent="0" marL="0">
              <a:buNone/>
            </a:pPr>
            <a:r>
              <a:rPr lang="en-US" sz="900" dirty="0">
                <a:solidFill>
                  <a:srgbClr val="D0D7D7"/>
                </a:solidFill>
                <a:latin typeface="Calibri" pitchFamily="34" charset="0"/>
                <a:ea typeface="Calibri" pitchFamily="34" charset="-122"/>
                <a:cs typeface="Calibri" pitchFamily="34" charset="-120"/>
              </a:rPr>
              <a:t>Total Estimated Effort</a:t>
            </a:r>
            <a:endParaRPr lang="en-US" sz="900" dirty="0"/>
          </a:p>
        </p:txBody>
      </p:sp>
      <p:sp>
        <p:nvSpPr>
          <p:cNvPr id="15" name="Shape 13"/>
          <p:cNvSpPr/>
          <p:nvPr/>
        </p:nvSpPr>
        <p:spPr>
          <a:xfrm>
            <a:off x="2414016" y="1005840"/>
            <a:ext cx="2011680" cy="914400"/>
          </a:xfrm>
          <a:prstGeom prst="rect">
            <a:avLst/>
          </a:prstGeom>
          <a:solidFill>
            <a:srgbClr val="123836"/>
          </a:solidFill>
          <a:ln w="12700">
            <a:solidFill>
              <a:srgbClr val="1B5E52"/>
            </a:solidFill>
            <a:prstDash val="solid"/>
          </a:ln>
          <a:effectLst>
            <a:outerShdw sx="100000" sy="100000" kx="0" ky="0" algn="bl" rotWithShape="0" blurRad="50800" dist="25400" dir="8100000">
              <a:srgbClr val="000000">
                <a:alpha val="12000"/>
              </a:srgbClr>
            </a:outerShdw>
          </a:effectLst>
        </p:spPr>
      </p:sp>
      <p:sp>
        <p:nvSpPr>
          <p:cNvPr id="16" name="Shape 14"/>
          <p:cNvSpPr/>
          <p:nvPr/>
        </p:nvSpPr>
        <p:spPr>
          <a:xfrm>
            <a:off x="2414016" y="1005840"/>
            <a:ext cx="2011680" cy="54864"/>
          </a:xfrm>
          <a:prstGeom prst="rect">
            <a:avLst/>
          </a:prstGeom>
          <a:solidFill>
            <a:srgbClr val="FF6359"/>
          </a:solidFill>
          <a:ln/>
        </p:spPr>
      </p:sp>
      <p:sp>
        <p:nvSpPr>
          <p:cNvPr id="17" name="Text 15"/>
          <p:cNvSpPr/>
          <p:nvPr/>
        </p:nvSpPr>
        <p:spPr>
          <a:xfrm>
            <a:off x="2505456" y="1097280"/>
            <a:ext cx="1828800" cy="438912"/>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8" name="Text 16"/>
          <p:cNvSpPr/>
          <p:nvPr/>
        </p:nvSpPr>
        <p:spPr>
          <a:xfrm>
            <a:off x="2505456" y="1481328"/>
            <a:ext cx="1828800" cy="201168"/>
          </a:xfrm>
          <a:prstGeom prst="rect">
            <a:avLst/>
          </a:prstGeom>
          <a:noFill/>
          <a:ln/>
        </p:spPr>
        <p:txBody>
          <a:bodyPr wrap="square" rtlCol="0" anchor="ctr"/>
          <a:lstStyle/>
          <a:p>
            <a:pPr algn="ctr" indent="0" marL="0">
              <a:buNone/>
            </a:pPr>
            <a:r>
              <a:rPr lang="en-US" sz="900" dirty="0">
                <a:solidFill>
                  <a:srgbClr val="FFD282"/>
                </a:solidFill>
                <a:latin typeface="Calibri" pitchFamily="34" charset="0"/>
                <a:ea typeface="Calibri" pitchFamily="34" charset="-122"/>
                <a:cs typeface="Calibri" pitchFamily="34" charset="-120"/>
              </a:rPr>
              <a:t>Count</a:t>
            </a:r>
            <a:endParaRPr lang="en-US" sz="900" dirty="0"/>
          </a:p>
        </p:txBody>
      </p:sp>
      <p:sp>
        <p:nvSpPr>
          <p:cNvPr id="19" name="Text 17"/>
          <p:cNvSpPr/>
          <p:nvPr/>
        </p:nvSpPr>
        <p:spPr>
          <a:xfrm>
            <a:off x="2459736" y="1627632"/>
            <a:ext cx="1920240" cy="329184"/>
          </a:xfrm>
          <a:prstGeom prst="rect">
            <a:avLst/>
          </a:prstGeom>
          <a:noFill/>
          <a:ln/>
        </p:spPr>
        <p:txBody>
          <a:bodyPr wrap="square" rtlCol="0" anchor="ctr"/>
          <a:lstStyle/>
          <a:p>
            <a:pPr algn="ctr" indent="0" marL="0">
              <a:buNone/>
            </a:pPr>
            <a:r>
              <a:rPr lang="en-US" sz="900" dirty="0">
                <a:solidFill>
                  <a:srgbClr val="D0D7D7"/>
                </a:solidFill>
                <a:latin typeface="Calibri" pitchFamily="34" charset="0"/>
                <a:ea typeface="Calibri" pitchFamily="34" charset="-122"/>
                <a:cs typeface="Calibri" pitchFamily="34" charset="-120"/>
              </a:rPr>
              <a:t>Features in Scope</a:t>
            </a:r>
            <a:endParaRPr lang="en-US" sz="900" dirty="0"/>
          </a:p>
        </p:txBody>
      </p:sp>
      <p:sp>
        <p:nvSpPr>
          <p:cNvPr id="20" name="Shape 18"/>
          <p:cNvSpPr/>
          <p:nvPr/>
        </p:nvSpPr>
        <p:spPr>
          <a:xfrm>
            <a:off x="4599432" y="1005840"/>
            <a:ext cx="2011680" cy="914400"/>
          </a:xfrm>
          <a:prstGeom prst="rect">
            <a:avLst/>
          </a:prstGeom>
          <a:solidFill>
            <a:srgbClr val="123836"/>
          </a:solidFill>
          <a:ln w="12700">
            <a:solidFill>
              <a:srgbClr val="1B5E52"/>
            </a:solidFill>
            <a:prstDash val="solid"/>
          </a:ln>
          <a:effectLst>
            <a:outerShdw sx="100000" sy="100000" kx="0" ky="0" algn="bl" rotWithShape="0" blurRad="50800" dist="25400" dir="8100000">
              <a:srgbClr val="000000">
                <a:alpha val="12000"/>
              </a:srgbClr>
            </a:outerShdw>
          </a:effectLst>
        </p:spPr>
      </p:sp>
      <p:sp>
        <p:nvSpPr>
          <p:cNvPr id="21" name="Shape 19"/>
          <p:cNvSpPr/>
          <p:nvPr/>
        </p:nvSpPr>
        <p:spPr>
          <a:xfrm>
            <a:off x="4599432" y="1005840"/>
            <a:ext cx="2011680" cy="54864"/>
          </a:xfrm>
          <a:prstGeom prst="rect">
            <a:avLst/>
          </a:prstGeom>
          <a:solidFill>
            <a:srgbClr val="FF6359"/>
          </a:solidFill>
          <a:ln/>
        </p:spPr>
      </p:sp>
      <p:sp>
        <p:nvSpPr>
          <p:cNvPr id="22" name="Text 20"/>
          <p:cNvSpPr/>
          <p:nvPr/>
        </p:nvSpPr>
        <p:spPr>
          <a:xfrm>
            <a:off x="4690872" y="1097280"/>
            <a:ext cx="1828800" cy="438912"/>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P1–P2</a:t>
            </a:r>
            <a:endParaRPr lang="en-US" sz="2200" dirty="0"/>
          </a:p>
        </p:txBody>
      </p:sp>
      <p:sp>
        <p:nvSpPr>
          <p:cNvPr id="23" name="Text 21"/>
          <p:cNvSpPr/>
          <p:nvPr/>
        </p:nvSpPr>
        <p:spPr>
          <a:xfrm>
            <a:off x="4690872" y="1481328"/>
            <a:ext cx="1828800" cy="201168"/>
          </a:xfrm>
          <a:prstGeom prst="rect">
            <a:avLst/>
          </a:prstGeom>
          <a:noFill/>
          <a:ln/>
        </p:spPr>
        <p:txBody>
          <a:bodyPr wrap="square" rtlCol="0" anchor="ctr"/>
          <a:lstStyle/>
          <a:p>
            <a:pPr algn="ctr" indent="0" marL="0">
              <a:buNone/>
            </a:pPr>
            <a:r>
              <a:rPr lang="en-US" sz="900" dirty="0">
                <a:solidFill>
                  <a:srgbClr val="FFD282"/>
                </a:solidFill>
                <a:latin typeface="Calibri" pitchFamily="34" charset="0"/>
                <a:ea typeface="Calibri" pitchFamily="34" charset="-122"/>
                <a:cs typeface="Calibri" pitchFamily="34" charset="-120"/>
              </a:rPr>
              <a:t>Must/Should Have</a:t>
            </a:r>
            <a:endParaRPr lang="en-US" sz="900" dirty="0"/>
          </a:p>
        </p:txBody>
      </p:sp>
      <p:sp>
        <p:nvSpPr>
          <p:cNvPr id="24" name="Text 22"/>
          <p:cNvSpPr/>
          <p:nvPr/>
        </p:nvSpPr>
        <p:spPr>
          <a:xfrm>
            <a:off x="4645152" y="1627632"/>
            <a:ext cx="1920240" cy="329184"/>
          </a:xfrm>
          <a:prstGeom prst="rect">
            <a:avLst/>
          </a:prstGeom>
          <a:noFill/>
          <a:ln/>
        </p:spPr>
        <p:txBody>
          <a:bodyPr wrap="square" rtlCol="0" anchor="ctr"/>
          <a:lstStyle/>
          <a:p>
            <a:pPr algn="ctr" indent="0" marL="0">
              <a:buNone/>
            </a:pPr>
            <a:r>
              <a:rPr lang="en-US" sz="900" dirty="0">
                <a:solidFill>
                  <a:srgbClr val="D0D7D7"/>
                </a:solidFill>
                <a:latin typeface="Calibri" pitchFamily="34" charset="0"/>
                <a:ea typeface="Calibri" pitchFamily="34" charset="-122"/>
                <a:cs typeface="Calibri" pitchFamily="34" charset="-120"/>
              </a:rPr>
              <a:t>Primary Priority</a:t>
            </a:r>
            <a:endParaRPr lang="en-US" sz="900" dirty="0"/>
          </a:p>
        </p:txBody>
      </p:sp>
      <p:sp>
        <p:nvSpPr>
          <p:cNvPr id="25" name="Shape 23"/>
          <p:cNvSpPr/>
          <p:nvPr/>
        </p:nvSpPr>
        <p:spPr>
          <a:xfrm>
            <a:off x="6784848" y="1005840"/>
            <a:ext cx="2011680" cy="914400"/>
          </a:xfrm>
          <a:prstGeom prst="rect">
            <a:avLst/>
          </a:prstGeom>
          <a:solidFill>
            <a:srgbClr val="123836"/>
          </a:solidFill>
          <a:ln w="12700">
            <a:solidFill>
              <a:srgbClr val="1B5E52"/>
            </a:solidFill>
            <a:prstDash val="solid"/>
          </a:ln>
          <a:effectLst>
            <a:outerShdw sx="100000" sy="100000" kx="0" ky="0" algn="bl" rotWithShape="0" blurRad="50800" dist="25400" dir="8100000">
              <a:srgbClr val="000000">
                <a:alpha val="12000"/>
              </a:srgbClr>
            </a:outerShdw>
          </a:effectLst>
        </p:spPr>
      </p:sp>
      <p:sp>
        <p:nvSpPr>
          <p:cNvPr id="26" name="Shape 24"/>
          <p:cNvSpPr/>
          <p:nvPr/>
        </p:nvSpPr>
        <p:spPr>
          <a:xfrm>
            <a:off x="6784848" y="1005840"/>
            <a:ext cx="2011680" cy="54864"/>
          </a:xfrm>
          <a:prstGeom prst="rect">
            <a:avLst/>
          </a:prstGeom>
          <a:solidFill>
            <a:srgbClr val="FF6359"/>
          </a:solidFill>
          <a:ln/>
        </p:spPr>
      </p:sp>
      <p:sp>
        <p:nvSpPr>
          <p:cNvPr id="27" name="Text 25"/>
          <p:cNvSpPr/>
          <p:nvPr/>
        </p:nvSpPr>
        <p:spPr>
          <a:xfrm>
            <a:off x="6876288" y="1097280"/>
            <a:ext cx="1828800" cy="438912"/>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PI28–PI29</a:t>
            </a:r>
            <a:endParaRPr lang="en-US" sz="2200" dirty="0"/>
          </a:p>
        </p:txBody>
      </p:sp>
      <p:sp>
        <p:nvSpPr>
          <p:cNvPr id="28" name="Text 26"/>
          <p:cNvSpPr/>
          <p:nvPr/>
        </p:nvSpPr>
        <p:spPr>
          <a:xfrm>
            <a:off x="6876288" y="1481328"/>
            <a:ext cx="1828800" cy="201168"/>
          </a:xfrm>
          <a:prstGeom prst="rect">
            <a:avLst/>
          </a:prstGeom>
          <a:noFill/>
          <a:ln/>
        </p:spPr>
        <p:txBody>
          <a:bodyPr wrap="square" rtlCol="0" anchor="ctr"/>
          <a:lstStyle/>
          <a:p>
            <a:pPr algn="ctr" indent="0" marL="0">
              <a:buNone/>
            </a:pPr>
            <a:r>
              <a:rPr lang="en-US" sz="900" dirty="0">
                <a:solidFill>
                  <a:srgbClr val="FFD282"/>
                </a:solidFill>
                <a:latin typeface="Calibri" pitchFamily="34" charset="0"/>
                <a:ea typeface="Calibri" pitchFamily="34" charset="-122"/>
                <a:cs typeface="Calibri" pitchFamily="34" charset="-120"/>
              </a:rPr>
              <a:t>Program Increments</a:t>
            </a:r>
            <a:endParaRPr lang="en-US" sz="900" dirty="0"/>
          </a:p>
        </p:txBody>
      </p:sp>
      <p:sp>
        <p:nvSpPr>
          <p:cNvPr id="29" name="Text 27"/>
          <p:cNvSpPr/>
          <p:nvPr/>
        </p:nvSpPr>
        <p:spPr>
          <a:xfrm>
            <a:off x="6830568" y="1627632"/>
            <a:ext cx="1920240" cy="329184"/>
          </a:xfrm>
          <a:prstGeom prst="rect">
            <a:avLst/>
          </a:prstGeom>
          <a:noFill/>
          <a:ln/>
        </p:spPr>
        <p:txBody>
          <a:bodyPr wrap="square" rtlCol="0" anchor="ctr"/>
          <a:lstStyle/>
          <a:p>
            <a:pPr algn="ctr" indent="0" marL="0">
              <a:buNone/>
            </a:pPr>
            <a:r>
              <a:rPr lang="en-US" sz="900" dirty="0">
                <a:solidFill>
                  <a:srgbClr val="D0D7D7"/>
                </a:solidFill>
                <a:latin typeface="Calibri" pitchFamily="34" charset="0"/>
                <a:ea typeface="Calibri" pitchFamily="34" charset="-122"/>
                <a:cs typeface="Calibri" pitchFamily="34" charset="-120"/>
              </a:rPr>
              <a:t>Planned PI Window</a:t>
            </a:r>
            <a:endParaRPr lang="en-US" sz="900" dirty="0"/>
          </a:p>
        </p:txBody>
      </p:sp>
      <p:sp>
        <p:nvSpPr>
          <p:cNvPr id="30" name="Text 28"/>
          <p:cNvSpPr/>
          <p:nvPr/>
        </p:nvSpPr>
        <p:spPr>
          <a:xfrm>
            <a:off x="228600" y="1965960"/>
            <a:ext cx="2743200" cy="228600"/>
          </a:xfrm>
          <a:prstGeom prst="rect">
            <a:avLst/>
          </a:prstGeom>
          <a:noFill/>
          <a:ln/>
        </p:spPr>
        <p:txBody>
          <a:bodyPr wrap="square" rtlCol="0" anchor="ctr"/>
          <a:lstStyle/>
          <a:p>
            <a:pPr indent="0" marL="0">
              <a:buNone/>
            </a:pPr>
            <a:r>
              <a:rPr lang="en-US" sz="1000" b="1" dirty="0">
                <a:solidFill>
                  <a:srgbClr val="FF6359"/>
                </a:solidFill>
              </a:rPr>
              <a:t>Business Scope</a:t>
            </a:r>
            <a:endParaRPr lang="en-US" sz="1000" dirty="0"/>
          </a:p>
        </p:txBody>
      </p:sp>
      <p:sp>
        <p:nvSpPr>
          <p:cNvPr id="31" name="Text 29"/>
          <p:cNvSpPr/>
          <p:nvPr/>
        </p:nvSpPr>
        <p:spPr>
          <a:xfrm>
            <a:off x="228600" y="2212848"/>
            <a:ext cx="2743200" cy="685800"/>
          </a:xfrm>
          <a:prstGeom prst="rect">
            <a:avLst/>
          </a:prstGeom>
          <a:noFill/>
          <a:ln/>
        </p:spPr>
        <p:txBody>
          <a:bodyPr wrap="square" rtlCol="0" anchor="ctr"/>
          <a:lstStyle/>
          <a:p>
            <a:pPr indent="0" marL="0">
              <a:buNone/>
            </a:pPr>
            <a:r>
              <a:rPr lang="en-US" sz="900" dirty="0">
                <a:solidFill>
                  <a:srgbClr val="141E1E"/>
                </a:solidFill>
              </a:rPr>
              <a:t>Manages the generation, issuance, and tracking of tax bills and formal assessments, alongside configurable installment plan management. Enables revenue authorities to systematically collect outstanding liabilities while offering structured repayment arrangements to taxpayers.</a:t>
            </a:r>
            <a:endParaRPr lang="en-US" sz="900" dirty="0"/>
          </a:p>
        </p:txBody>
      </p:sp>
      <p:sp>
        <p:nvSpPr>
          <p:cNvPr id="32" name="Text 30"/>
          <p:cNvSpPr/>
          <p:nvPr/>
        </p:nvSpPr>
        <p:spPr>
          <a:xfrm>
            <a:off x="228600" y="2944368"/>
            <a:ext cx="2743200" cy="201168"/>
          </a:xfrm>
          <a:prstGeom prst="rect">
            <a:avLst/>
          </a:prstGeom>
          <a:noFill/>
          <a:ln/>
        </p:spPr>
        <p:txBody>
          <a:bodyPr wrap="square" rtlCol="0" anchor="ctr"/>
          <a:lstStyle/>
          <a:p>
            <a:pPr indent="0" marL="0">
              <a:buNone/>
            </a:pPr>
            <a:r>
              <a:rPr lang="en-US" sz="1000" b="1" dirty="0">
                <a:solidFill>
                  <a:srgbClr val="FF6359"/>
                </a:solidFill>
              </a:rPr>
              <a:t>Key Investment Benefits</a:t>
            </a:r>
            <a:endParaRPr lang="en-US" sz="1000" dirty="0"/>
          </a:p>
        </p:txBody>
      </p:sp>
      <p:sp>
        <p:nvSpPr>
          <p:cNvPr id="33" name="Text 31"/>
          <p:cNvSpPr/>
          <p:nvPr/>
        </p:nvSpPr>
        <p:spPr>
          <a:xfrm>
            <a:off x="228600" y="3172968"/>
            <a:ext cx="2743200" cy="749808"/>
          </a:xfrm>
          <a:prstGeom prst="rect">
            <a:avLst/>
          </a:prstGeom>
          <a:noFill/>
          <a:ln/>
        </p:spPr>
        <p:txBody>
          <a:bodyPr wrap="square" rtlCol="0" anchor="ctr"/>
          <a:lstStyle/>
          <a:p>
            <a:pPr marL="342900" indent="-342900">
              <a:buSzPct val="100000"/>
              <a:buChar char="•"/>
            </a:pPr>
            <a:r>
              <a:rPr lang="en-US" sz="900" dirty="0">
                <a:solidFill>
                  <a:srgbClr val="4A5C5A"/>
                </a:solidFill>
              </a:rPr>
              <a:t>Automated billing reduces manual officer workload and accelerates revenue collection cycles</a:t>
            </a:r>
            <a:endParaRPr lang="en-US" sz="900" dirty="0"/>
          </a:p>
          <a:p>
            <a:pPr marL="342900" indent="-342900">
              <a:buSzPct val="100000"/>
              <a:buChar char="•"/>
            </a:pPr>
            <a:r>
              <a:rPr lang="en-US" sz="900" dirty="0">
                <a:solidFill>
                  <a:srgbClr val="4A5C5A"/>
                </a:solidFill>
              </a:rPr>
              <a:t>Structured installment plans increase voluntary compliance and recovery rates</a:t>
            </a:r>
            <a:endParaRPr lang="en-US" sz="900" dirty="0"/>
          </a:p>
          <a:p>
            <a:pPr marL="342900" indent="-342900">
              <a:buSzPct val="100000"/>
              <a:buChar char="•"/>
            </a:pPr>
            <a:r>
              <a:rPr lang="en-US" sz="900" dirty="0">
                <a:solidFill>
                  <a:srgbClr val="4A5C5A"/>
                </a:solidFill>
              </a:rPr>
              <a:t>Formal assessment workflows create enforceable legal liability records</a:t>
            </a:r>
            <a:endParaRPr lang="en-US" sz="900" dirty="0"/>
          </a:p>
          <a:p>
            <a:pPr marL="342900" indent="-342900">
              <a:buSzPct val="100000"/>
              <a:buChar char="•"/>
            </a:pPr>
            <a:r>
              <a:rPr lang="en-US" sz="900" dirty="0">
                <a:solidFill>
                  <a:srgbClr val="4A5C5A"/>
                </a:solidFill>
              </a:rPr>
              <a:t>Reduces revenue leakage by ensuring all liabilities are captured and tracked</a:t>
            </a:r>
            <a:endParaRPr lang="en-US" sz="900" dirty="0"/>
          </a:p>
        </p:txBody>
      </p:sp>
      <p:sp>
        <p:nvSpPr>
          <p:cNvPr id="34" name="Text 32"/>
          <p:cNvSpPr/>
          <p:nvPr/>
        </p:nvSpPr>
        <p:spPr>
          <a:xfrm>
            <a:off x="3108960" y="1965960"/>
            <a:ext cx="3017520" cy="228600"/>
          </a:xfrm>
          <a:prstGeom prst="rect">
            <a:avLst/>
          </a:prstGeom>
          <a:noFill/>
          <a:ln/>
        </p:spPr>
        <p:txBody>
          <a:bodyPr wrap="square" rtlCol="0" anchor="ctr"/>
          <a:lstStyle/>
          <a:p>
            <a:pPr indent="0" marL="0">
              <a:buNone/>
            </a:pPr>
            <a:r>
              <a:rPr lang="en-US" sz="1000" b="1" dirty="0">
                <a:solidFill>
                  <a:srgbClr val="FF6359"/>
                </a:solidFill>
              </a:rPr>
              <a:t>Estimated Effort by Feature Area</a:t>
            </a:r>
            <a:endParaRPr lang="en-US" sz="1000" dirty="0"/>
          </a:p>
        </p:txBody>
      </p:sp>
      <p:graphicFrame>
        <p:nvGraphicFramePr>
          <p:cNvPr id="35" name="Chart 0" descr=""/>
          <p:cNvGraphicFramePr/>
          <p:nvPr/>
        </p:nvGraphicFramePr>
        <p:xfrm>
          <a:off x="3108960" y="2212848"/>
          <a:ext cx="3017520" cy="1828800"/>
        </p:xfrm>
        <a:graphic xmlns:a="http://schemas.openxmlformats.org/drawingml/2006/main">
          <a:graphicData uri="http://schemas.openxmlformats.org/drawingml/2006/chart">
            <c:chart xmlns:c="http://schemas.openxmlformats.org/drawingml/2006/chart" r:id="rId1"/>
          </a:graphicData>
        </a:graphic>
      </p:graphicFrame>
      <p:sp>
        <p:nvSpPr>
          <p:cNvPr id="36" name="Text 33"/>
          <p:cNvSpPr/>
          <p:nvPr/>
        </p:nvSpPr>
        <p:spPr>
          <a:xfrm>
            <a:off x="6263640" y="1965960"/>
            <a:ext cx="2651760" cy="228600"/>
          </a:xfrm>
          <a:prstGeom prst="rect">
            <a:avLst/>
          </a:prstGeom>
          <a:noFill/>
          <a:ln/>
        </p:spPr>
        <p:txBody>
          <a:bodyPr wrap="square" rtlCol="0" anchor="ctr"/>
          <a:lstStyle/>
          <a:p>
            <a:pPr indent="0" marL="0">
              <a:buNone/>
            </a:pPr>
            <a:r>
              <a:rPr lang="en-US" sz="1000" b="1" dirty="0">
                <a:solidFill>
                  <a:srgbClr val="FF6359"/>
                </a:solidFill>
              </a:rPr>
              <a:t>Priority Distribution</a:t>
            </a:r>
            <a:endParaRPr lang="en-US" sz="1000" dirty="0"/>
          </a:p>
        </p:txBody>
      </p:sp>
      <p:graphicFrame>
        <p:nvGraphicFramePr>
          <p:cNvPr id="37" name="Chart 1" descr=""/>
          <p:cNvGraphicFramePr/>
          <p:nvPr/>
        </p:nvGraphicFramePr>
        <p:xfrm>
          <a:off x="6263640" y="2212848"/>
          <a:ext cx="2651760" cy="914400"/>
        </p:xfrm>
        <a:graphic xmlns:a="http://schemas.openxmlformats.org/drawingml/2006/main">
          <a:graphicData uri="http://schemas.openxmlformats.org/drawingml/2006/chart">
            <c:chart xmlns:c="http://schemas.openxmlformats.org/drawingml/2006/chart" r:id="rId2"/>
          </a:graphicData>
        </a:graphic>
      </p:graphicFrame>
      <p:sp>
        <p:nvSpPr>
          <p:cNvPr id="38" name="Text 34"/>
          <p:cNvSpPr/>
          <p:nvPr/>
        </p:nvSpPr>
        <p:spPr>
          <a:xfrm>
            <a:off x="228600" y="3886200"/>
            <a:ext cx="914400" cy="201168"/>
          </a:xfrm>
          <a:prstGeom prst="rect">
            <a:avLst/>
          </a:prstGeom>
          <a:noFill/>
          <a:ln/>
        </p:spPr>
        <p:txBody>
          <a:bodyPr wrap="square" rtlCol="0" anchor="ctr"/>
          <a:lstStyle/>
          <a:p>
            <a:pPr indent="0" marL="0">
              <a:buNone/>
            </a:pPr>
            <a:r>
              <a:rPr lang="en-US" sz="1000" b="1" dirty="0">
                <a:solidFill>
                  <a:srgbClr val="FF6359"/>
                </a:solidFill>
              </a:rPr>
              <a:t>PI Planning</a:t>
            </a:r>
            <a:endParaRPr lang="en-US" sz="1000" dirty="0"/>
          </a:p>
        </p:txBody>
      </p:sp>
      <p:sp>
        <p:nvSpPr>
          <p:cNvPr id="39" name="Shape 35"/>
          <p:cNvSpPr/>
          <p:nvPr/>
        </p:nvSpPr>
        <p:spPr>
          <a:xfrm>
            <a:off x="0" y="4617720"/>
            <a:ext cx="9144000" cy="347472"/>
          </a:xfrm>
          <a:prstGeom prst="rect">
            <a:avLst/>
          </a:prstGeom>
          <a:solidFill>
            <a:srgbClr val="123836"/>
          </a:solidFill>
          <a:ln/>
        </p:spPr>
      </p:sp>
      <p:sp>
        <p:nvSpPr>
          <p:cNvPr id="40" name="Shape 36"/>
          <p:cNvSpPr/>
          <p:nvPr/>
        </p:nvSpPr>
        <p:spPr>
          <a:xfrm>
            <a:off x="0" y="4617720"/>
            <a:ext cx="73152" cy="347472"/>
          </a:xfrm>
          <a:prstGeom prst="rect">
            <a:avLst/>
          </a:prstGeom>
          <a:solidFill>
            <a:srgbClr val="FFD282"/>
          </a:solidFill>
          <a:ln/>
        </p:spPr>
      </p:sp>
      <p:sp>
        <p:nvSpPr>
          <p:cNvPr id="41" name="Text 37"/>
          <p:cNvSpPr/>
          <p:nvPr/>
        </p:nvSpPr>
        <p:spPr>
          <a:xfrm>
            <a:off x="137160" y="4617720"/>
            <a:ext cx="8869680" cy="347472"/>
          </a:xfrm>
          <a:prstGeom prst="rect">
            <a:avLst/>
          </a:prstGeom>
          <a:noFill/>
          <a:ln/>
        </p:spPr>
        <p:txBody>
          <a:bodyPr wrap="square" rtlCol="0" anchor="ctr"/>
          <a:lstStyle/>
          <a:p>
            <a:pPr indent="0" marL="0">
              <a:buNone/>
            </a:pPr>
            <a:r>
              <a:rPr lang="en-US" sz="750" dirty="0">
                <a:solidFill>
                  <a:srgbClr val="D0D7D7"/>
                </a:solidFill>
              </a:rPr>
              <a:t>Prerequisite for collections — sequence with Registration   ·   Installment plans = quick win in PI29   ·   No work started — PI28 kickoff required now</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6"/>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23836"/>
          </a:solidFill>
          <a:ln/>
        </p:spPr>
      </p:sp>
      <p:sp>
        <p:nvSpPr>
          <p:cNvPr id="3" name="Shape 1"/>
          <p:cNvSpPr/>
          <p:nvPr/>
        </p:nvSpPr>
        <p:spPr>
          <a:xfrm>
            <a:off x="0" y="0"/>
            <a:ext cx="73152" cy="960120"/>
          </a:xfrm>
          <a:prstGeom prst="rect">
            <a:avLst/>
          </a:prstGeom>
          <a:solidFill>
            <a:srgbClr val="FF6359"/>
          </a:solidFill>
          <a:ln/>
        </p:spPr>
      </p:sp>
      <p:sp>
        <p:nvSpPr>
          <p:cNvPr id="4" name="Text 2"/>
          <p:cNvSpPr/>
          <p:nvPr/>
        </p:nvSpPr>
        <p:spPr>
          <a:xfrm>
            <a:off x="182880" y="64008"/>
            <a:ext cx="6400800" cy="502920"/>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Remaining Initiatives — Core Revenue Management</a:t>
            </a:r>
            <a:endParaRPr lang="en-US" sz="2000" dirty="0"/>
          </a:p>
        </p:txBody>
      </p:sp>
      <p:sp>
        <p:nvSpPr>
          <p:cNvPr id="5" name="Text 3"/>
          <p:cNvSpPr/>
          <p:nvPr/>
        </p:nvSpPr>
        <p:spPr>
          <a:xfrm>
            <a:off x="182880" y="548640"/>
            <a:ext cx="8229600" cy="347472"/>
          </a:xfrm>
          <a:prstGeom prst="rect">
            <a:avLst/>
          </a:prstGeom>
          <a:noFill/>
          <a:ln/>
        </p:spPr>
        <p:txBody>
          <a:bodyPr wrap="square" rtlCol="0" anchor="ctr"/>
          <a:lstStyle/>
          <a:p>
            <a:pPr indent="0" marL="0">
              <a:buNone/>
            </a:pPr>
            <a:r>
              <a:rPr lang="en-US" sz="1100" dirty="0">
                <a:solidFill>
                  <a:srgbClr val="73AA87"/>
                </a:solidFill>
                <a:latin typeface="Calibri" pitchFamily="34" charset="0"/>
                <a:ea typeface="Calibri" pitchFamily="34" charset="-122"/>
                <a:cs typeface="Calibri" pitchFamily="34" charset="-120"/>
              </a:rPr>
              <a:t>Exemptions | Penalty &amp; Interest | Tax Accounts</a:t>
            </a:r>
            <a:endParaRPr lang="en-US" sz="1100" dirty="0"/>
          </a:p>
        </p:txBody>
      </p:sp>
      <p:sp>
        <p:nvSpPr>
          <p:cNvPr id="6" name="Text 4"/>
          <p:cNvSpPr/>
          <p:nvPr/>
        </p:nvSpPr>
        <p:spPr>
          <a:xfrm>
            <a:off x="6858000" y="73152"/>
            <a:ext cx="2103120" cy="365760"/>
          </a:xfrm>
          <a:prstGeom prst="rect">
            <a:avLst/>
          </a:prstGeom>
          <a:noFill/>
          <a:ln/>
        </p:spPr>
        <p:txBody>
          <a:bodyPr wrap="square" rtlCol="0" anchor="ctr"/>
          <a:lstStyle/>
          <a:p>
            <a:pPr algn="r" indent="0" marL="0">
              <a:buNone/>
            </a:pPr>
            <a:r>
              <a:rPr lang="en-US" sz="1200" b="1" dirty="0">
                <a:solidFill>
                  <a:srgbClr val="73AA87"/>
                </a:solidFill>
                <a:latin typeface="Calibri" pitchFamily="34" charset="0"/>
                <a:ea typeface="Calibri" pitchFamily="34" charset="-122"/>
                <a:cs typeface="Calibri" pitchFamily="34" charset="-120"/>
              </a:rPr>
              <a:t>Netcompany</a:t>
            </a:r>
            <a:endParaRPr lang="en-US" sz="1200" dirty="0"/>
          </a:p>
        </p:txBody>
      </p:sp>
      <p:sp>
        <p:nvSpPr>
          <p:cNvPr id="7" name="Shape 5"/>
          <p:cNvSpPr/>
          <p:nvPr/>
        </p:nvSpPr>
        <p:spPr>
          <a:xfrm>
            <a:off x="0" y="4983480"/>
            <a:ext cx="9144000" cy="160020"/>
          </a:xfrm>
          <a:prstGeom prst="rect">
            <a:avLst/>
          </a:prstGeom>
          <a:solidFill>
            <a:srgbClr val="123836"/>
          </a:solidFill>
          <a:ln/>
        </p:spPr>
      </p:sp>
      <p:sp>
        <p:nvSpPr>
          <p:cNvPr id="8" name="Text 6"/>
          <p:cNvSpPr/>
          <p:nvPr/>
        </p:nvSpPr>
        <p:spPr>
          <a:xfrm>
            <a:off x="137160" y="4974336"/>
            <a:ext cx="6400800" cy="164592"/>
          </a:xfrm>
          <a:prstGeom prst="rect">
            <a:avLst/>
          </a:prstGeom>
          <a:noFill/>
          <a:ln/>
        </p:spPr>
        <p:txBody>
          <a:bodyPr wrap="square" rtlCol="0" anchor="ctr"/>
          <a:lstStyle/>
          <a:p>
            <a:pPr indent="0" marL="0">
              <a:buNone/>
            </a:pPr>
            <a:r>
              <a:rPr lang="en-US" sz="800" dirty="0">
                <a:solidFill>
                  <a:srgbClr val="D0D7D7"/>
                </a:solidFill>
                <a:latin typeface="Calibri" pitchFamily="34" charset="0"/>
                <a:ea typeface="Calibri" pitchFamily="34" charset="-122"/>
                <a:cs typeface="Calibri" pitchFamily="34" charset="-120"/>
              </a:rPr>
              <a:t>Solon Tax Product Roadmap 2026 | SteerCo</a:t>
            </a:r>
            <a:endParaRPr lang="en-US" sz="800" dirty="0"/>
          </a:p>
        </p:txBody>
      </p:sp>
      <p:sp>
        <p:nvSpPr>
          <p:cNvPr id="9" name="Text 7"/>
          <p:cNvSpPr/>
          <p:nvPr/>
        </p:nvSpPr>
        <p:spPr>
          <a:xfrm>
            <a:off x="8686800" y="4974336"/>
            <a:ext cx="365760" cy="164592"/>
          </a:xfrm>
          <a:prstGeom prst="rect">
            <a:avLst/>
          </a:prstGeom>
          <a:noFill/>
          <a:ln/>
        </p:spPr>
        <p:txBody>
          <a:bodyPr wrap="square" rtlCol="0" anchor="ctr"/>
          <a:lstStyle/>
          <a:p>
            <a:pPr algn="r" indent="0" marL="0">
              <a:buNone/>
            </a:pPr>
            <a:r>
              <a:rPr lang="en-US" sz="800" dirty="0">
                <a:solidFill>
                  <a:srgbClr val="D0D7D7"/>
                </a:solidFill>
                <a:latin typeface="Calibri" pitchFamily="34" charset="0"/>
                <a:ea typeface="Calibri" pitchFamily="34" charset="-122"/>
                <a:cs typeface="Calibri" pitchFamily="34" charset="-120"/>
              </a:rPr>
              <a:t>7</a:t>
            </a:r>
            <a:endParaRPr lang="en-US" sz="800" dirty="0"/>
          </a:p>
        </p:txBody>
      </p:sp>
      <p:sp>
        <p:nvSpPr>
          <p:cNvPr id="10" name="Shape 8"/>
          <p:cNvSpPr/>
          <p:nvPr/>
        </p:nvSpPr>
        <p:spPr>
          <a:xfrm>
            <a:off x="182880" y="1024128"/>
            <a:ext cx="2834640" cy="3858768"/>
          </a:xfrm>
          <a:prstGeom prst="rect">
            <a:avLst/>
          </a:prstGeom>
          <a:solidFill>
            <a:srgbClr val="FFFFFF"/>
          </a:solidFill>
          <a:ln w="12700">
            <a:solidFill>
              <a:srgbClr val="D0D7D7"/>
            </a:solidFill>
            <a:prstDash val="solid"/>
          </a:ln>
          <a:effectLst>
            <a:outerShdw sx="100000" sy="100000" kx="0" ky="0" algn="bl" rotWithShape="0" blurRad="50800" dist="25400" dir="8100000">
              <a:srgbClr val="000000">
                <a:alpha val="12000"/>
              </a:srgbClr>
            </a:outerShdw>
          </a:effectLst>
        </p:spPr>
      </p:sp>
      <p:sp>
        <p:nvSpPr>
          <p:cNvPr id="11" name="Shape 9"/>
          <p:cNvSpPr/>
          <p:nvPr/>
        </p:nvSpPr>
        <p:spPr>
          <a:xfrm>
            <a:off x="182880" y="1024128"/>
            <a:ext cx="2834640" cy="54864"/>
          </a:xfrm>
          <a:prstGeom prst="rect">
            <a:avLst/>
          </a:prstGeom>
          <a:solidFill>
            <a:srgbClr val="FF6359"/>
          </a:solidFill>
          <a:ln/>
        </p:spPr>
      </p:sp>
      <p:sp>
        <p:nvSpPr>
          <p:cNvPr id="12" name="Text 10"/>
          <p:cNvSpPr/>
          <p:nvPr/>
        </p:nvSpPr>
        <p:spPr>
          <a:xfrm>
            <a:off x="292608" y="1115568"/>
            <a:ext cx="2615184" cy="320040"/>
          </a:xfrm>
          <a:prstGeom prst="rect">
            <a:avLst/>
          </a:prstGeom>
          <a:noFill/>
          <a:ln/>
        </p:spPr>
        <p:txBody>
          <a:bodyPr wrap="square" rtlCol="0" anchor="ctr"/>
          <a:lstStyle/>
          <a:p>
            <a:pPr indent="0" marL="0">
              <a:buNone/>
            </a:pPr>
            <a:r>
              <a:rPr lang="en-US" sz="1300" b="1" dirty="0">
                <a:solidFill>
                  <a:srgbClr val="123836"/>
                </a:solidFill>
              </a:rPr>
              <a:t>Exemptions</a:t>
            </a:r>
            <a:endParaRPr lang="en-US" sz="1300" dirty="0"/>
          </a:p>
        </p:txBody>
      </p:sp>
      <p:sp>
        <p:nvSpPr>
          <p:cNvPr id="13" name="Shape 11"/>
          <p:cNvSpPr/>
          <p:nvPr/>
        </p:nvSpPr>
        <p:spPr>
          <a:xfrm>
            <a:off x="246888" y="1481328"/>
            <a:ext cx="640080" cy="548640"/>
          </a:xfrm>
          <a:prstGeom prst="rect">
            <a:avLst/>
          </a:prstGeom>
          <a:solidFill>
            <a:srgbClr val="123836"/>
          </a:solidFill>
          <a:ln/>
        </p:spPr>
      </p:sp>
      <p:sp>
        <p:nvSpPr>
          <p:cNvPr id="14" name="Text 12"/>
          <p:cNvSpPr/>
          <p:nvPr/>
        </p:nvSpPr>
        <p:spPr>
          <a:xfrm>
            <a:off x="246888" y="1481328"/>
            <a:ext cx="640080" cy="338328"/>
          </a:xfrm>
          <a:prstGeom prst="rect">
            <a:avLst/>
          </a:prstGeom>
          <a:noFill/>
          <a:ln/>
        </p:spPr>
        <p:txBody>
          <a:bodyPr wrap="square" rtlCol="0" anchor="b"/>
          <a:lstStyle/>
          <a:p>
            <a:pPr algn="ctr" indent="0" marL="0">
              <a:buNone/>
            </a:pPr>
            <a:r>
              <a:rPr lang="en-US" sz="750" b="1" dirty="0">
                <a:solidFill>
                  <a:srgbClr val="FFFFFF"/>
                </a:solidFill>
              </a:rPr>
              <a:t>~390H</a:t>
            </a:r>
            <a:endParaRPr lang="en-US" sz="750" dirty="0"/>
          </a:p>
        </p:txBody>
      </p:sp>
      <p:sp>
        <p:nvSpPr>
          <p:cNvPr id="15" name="Text 13"/>
          <p:cNvSpPr/>
          <p:nvPr/>
        </p:nvSpPr>
        <p:spPr>
          <a:xfrm>
            <a:off x="246888" y="1819656"/>
            <a:ext cx="640080" cy="201168"/>
          </a:xfrm>
          <a:prstGeom prst="rect">
            <a:avLst/>
          </a:prstGeom>
          <a:noFill/>
          <a:ln/>
        </p:spPr>
        <p:txBody>
          <a:bodyPr wrap="square" rtlCol="0" anchor="ctr"/>
          <a:lstStyle/>
          <a:p>
            <a:pPr algn="ctr" indent="0" marL="0">
              <a:buNone/>
            </a:pPr>
            <a:r>
              <a:rPr lang="en-US" sz="650" dirty="0">
                <a:solidFill>
                  <a:srgbClr val="FFD282"/>
                </a:solidFill>
              </a:rPr>
              <a:t>Effort</a:t>
            </a:r>
            <a:endParaRPr lang="en-US" sz="650" dirty="0"/>
          </a:p>
        </p:txBody>
      </p:sp>
      <p:sp>
        <p:nvSpPr>
          <p:cNvPr id="16" name="Shape 14"/>
          <p:cNvSpPr/>
          <p:nvPr/>
        </p:nvSpPr>
        <p:spPr>
          <a:xfrm>
            <a:off x="941832" y="1481328"/>
            <a:ext cx="640080" cy="548640"/>
          </a:xfrm>
          <a:prstGeom prst="rect">
            <a:avLst/>
          </a:prstGeom>
          <a:solidFill>
            <a:srgbClr val="123836"/>
          </a:solidFill>
          <a:ln/>
        </p:spPr>
      </p:sp>
      <p:sp>
        <p:nvSpPr>
          <p:cNvPr id="17" name="Text 15"/>
          <p:cNvSpPr/>
          <p:nvPr/>
        </p:nvSpPr>
        <p:spPr>
          <a:xfrm>
            <a:off x="941832" y="1481328"/>
            <a:ext cx="640080" cy="338328"/>
          </a:xfrm>
          <a:prstGeom prst="rect">
            <a:avLst/>
          </a:prstGeom>
          <a:noFill/>
          <a:ln/>
        </p:spPr>
        <p:txBody>
          <a:bodyPr wrap="square" rtlCol="0" anchor="b"/>
          <a:lstStyle/>
          <a:p>
            <a:pPr algn="ctr" indent="0" marL="0">
              <a:buNone/>
            </a:pPr>
            <a:r>
              <a:rPr lang="en-US" sz="750" b="1" dirty="0">
                <a:solidFill>
                  <a:srgbClr val="FFFFFF"/>
                </a:solidFill>
              </a:rPr>
              <a:t>1</a:t>
            </a:r>
            <a:endParaRPr lang="en-US" sz="750" dirty="0"/>
          </a:p>
        </p:txBody>
      </p:sp>
      <p:sp>
        <p:nvSpPr>
          <p:cNvPr id="18" name="Text 16"/>
          <p:cNvSpPr/>
          <p:nvPr/>
        </p:nvSpPr>
        <p:spPr>
          <a:xfrm>
            <a:off x="941832" y="1819656"/>
            <a:ext cx="640080" cy="201168"/>
          </a:xfrm>
          <a:prstGeom prst="rect">
            <a:avLst/>
          </a:prstGeom>
          <a:noFill/>
          <a:ln/>
        </p:spPr>
        <p:txBody>
          <a:bodyPr wrap="square" rtlCol="0" anchor="ctr"/>
          <a:lstStyle/>
          <a:p>
            <a:pPr algn="ctr" indent="0" marL="0">
              <a:buNone/>
            </a:pPr>
            <a:r>
              <a:rPr lang="en-US" sz="650" dirty="0">
                <a:solidFill>
                  <a:srgbClr val="FFD282"/>
                </a:solidFill>
              </a:rPr>
              <a:t>Features</a:t>
            </a:r>
            <a:endParaRPr lang="en-US" sz="650" dirty="0"/>
          </a:p>
        </p:txBody>
      </p:sp>
      <p:sp>
        <p:nvSpPr>
          <p:cNvPr id="19" name="Shape 17"/>
          <p:cNvSpPr/>
          <p:nvPr/>
        </p:nvSpPr>
        <p:spPr>
          <a:xfrm>
            <a:off x="1636776" y="1481328"/>
            <a:ext cx="640080" cy="548640"/>
          </a:xfrm>
          <a:prstGeom prst="rect">
            <a:avLst/>
          </a:prstGeom>
          <a:solidFill>
            <a:srgbClr val="123836"/>
          </a:solidFill>
          <a:ln/>
        </p:spPr>
      </p:sp>
      <p:sp>
        <p:nvSpPr>
          <p:cNvPr id="20" name="Text 18"/>
          <p:cNvSpPr/>
          <p:nvPr/>
        </p:nvSpPr>
        <p:spPr>
          <a:xfrm>
            <a:off x="1636776" y="1481328"/>
            <a:ext cx="640080" cy="338328"/>
          </a:xfrm>
          <a:prstGeom prst="rect">
            <a:avLst/>
          </a:prstGeom>
          <a:noFill/>
          <a:ln/>
        </p:spPr>
        <p:txBody>
          <a:bodyPr wrap="square" rtlCol="0" anchor="b"/>
          <a:lstStyle/>
          <a:p>
            <a:pPr algn="ctr" indent="0" marL="0">
              <a:buNone/>
            </a:pPr>
            <a:r>
              <a:rPr lang="en-US" sz="750" b="1" dirty="0">
                <a:solidFill>
                  <a:srgbClr val="FFFFFF"/>
                </a:solidFill>
              </a:rPr>
              <a:t>P2</a:t>
            </a:r>
            <a:endParaRPr lang="en-US" sz="750" dirty="0"/>
          </a:p>
        </p:txBody>
      </p:sp>
      <p:sp>
        <p:nvSpPr>
          <p:cNvPr id="21" name="Text 19"/>
          <p:cNvSpPr/>
          <p:nvPr/>
        </p:nvSpPr>
        <p:spPr>
          <a:xfrm>
            <a:off x="1636776" y="1819656"/>
            <a:ext cx="640080" cy="201168"/>
          </a:xfrm>
          <a:prstGeom prst="rect">
            <a:avLst/>
          </a:prstGeom>
          <a:noFill/>
          <a:ln/>
        </p:spPr>
        <p:txBody>
          <a:bodyPr wrap="square" rtlCol="0" anchor="ctr"/>
          <a:lstStyle/>
          <a:p>
            <a:pPr algn="ctr" indent="0" marL="0">
              <a:buNone/>
            </a:pPr>
            <a:r>
              <a:rPr lang="en-US" sz="650" dirty="0">
                <a:solidFill>
                  <a:srgbClr val="FFD282"/>
                </a:solidFill>
              </a:rPr>
              <a:t>Priority</a:t>
            </a:r>
            <a:endParaRPr lang="en-US" sz="650" dirty="0"/>
          </a:p>
        </p:txBody>
      </p:sp>
      <p:sp>
        <p:nvSpPr>
          <p:cNvPr id="22" name="Shape 20"/>
          <p:cNvSpPr/>
          <p:nvPr/>
        </p:nvSpPr>
        <p:spPr>
          <a:xfrm>
            <a:off x="2331720" y="1481328"/>
            <a:ext cx="640080" cy="548640"/>
          </a:xfrm>
          <a:prstGeom prst="rect">
            <a:avLst/>
          </a:prstGeom>
          <a:solidFill>
            <a:srgbClr val="123836"/>
          </a:solidFill>
          <a:ln/>
        </p:spPr>
      </p:sp>
      <p:sp>
        <p:nvSpPr>
          <p:cNvPr id="23" name="Text 21"/>
          <p:cNvSpPr/>
          <p:nvPr/>
        </p:nvSpPr>
        <p:spPr>
          <a:xfrm>
            <a:off x="2331720" y="1481328"/>
            <a:ext cx="640080" cy="338328"/>
          </a:xfrm>
          <a:prstGeom prst="rect">
            <a:avLst/>
          </a:prstGeom>
          <a:noFill/>
          <a:ln/>
        </p:spPr>
        <p:txBody>
          <a:bodyPr wrap="square" rtlCol="0" anchor="b"/>
          <a:lstStyle/>
          <a:p>
            <a:pPr algn="ctr" indent="0" marL="0">
              <a:buNone/>
            </a:pPr>
            <a:r>
              <a:rPr lang="en-US" sz="750" b="1" dirty="0">
                <a:solidFill>
                  <a:srgbClr val="FFFFFF"/>
                </a:solidFill>
              </a:rPr>
              <a:t>PI28</a:t>
            </a:r>
            <a:endParaRPr lang="en-US" sz="750" dirty="0"/>
          </a:p>
        </p:txBody>
      </p:sp>
      <p:sp>
        <p:nvSpPr>
          <p:cNvPr id="24" name="Text 22"/>
          <p:cNvSpPr/>
          <p:nvPr/>
        </p:nvSpPr>
        <p:spPr>
          <a:xfrm>
            <a:off x="2331720" y="1819656"/>
            <a:ext cx="640080" cy="201168"/>
          </a:xfrm>
          <a:prstGeom prst="rect">
            <a:avLst/>
          </a:prstGeom>
          <a:noFill/>
          <a:ln/>
        </p:spPr>
        <p:txBody>
          <a:bodyPr wrap="square" rtlCol="0" anchor="ctr"/>
          <a:lstStyle/>
          <a:p>
            <a:pPr algn="ctr" indent="0" marL="0">
              <a:buNone/>
            </a:pPr>
            <a:r>
              <a:rPr lang="en-US" sz="650" dirty="0">
                <a:solidFill>
                  <a:srgbClr val="FFD282"/>
                </a:solidFill>
              </a:rPr>
              <a:t>PI</a:t>
            </a:r>
            <a:endParaRPr lang="en-US" sz="650" dirty="0"/>
          </a:p>
        </p:txBody>
      </p:sp>
      <p:sp>
        <p:nvSpPr>
          <p:cNvPr id="25" name="Text 23"/>
          <p:cNvSpPr/>
          <p:nvPr/>
        </p:nvSpPr>
        <p:spPr>
          <a:xfrm>
            <a:off x="292608" y="2103120"/>
            <a:ext cx="2615184" cy="201168"/>
          </a:xfrm>
          <a:prstGeom prst="rect">
            <a:avLst/>
          </a:prstGeom>
          <a:noFill/>
          <a:ln/>
        </p:spPr>
        <p:txBody>
          <a:bodyPr wrap="square" rtlCol="0" anchor="ctr"/>
          <a:lstStyle/>
          <a:p>
            <a:pPr indent="0" marL="0">
              <a:buNone/>
            </a:pPr>
            <a:r>
              <a:rPr lang="en-US" sz="900" b="1" dirty="0">
                <a:solidFill>
                  <a:srgbClr val="FF6359"/>
                </a:solidFill>
              </a:rPr>
              <a:t>Scope</a:t>
            </a:r>
            <a:endParaRPr lang="en-US" sz="900" dirty="0"/>
          </a:p>
        </p:txBody>
      </p:sp>
      <p:sp>
        <p:nvSpPr>
          <p:cNvPr id="26" name="Text 24"/>
          <p:cNvSpPr/>
          <p:nvPr/>
        </p:nvSpPr>
        <p:spPr>
          <a:xfrm>
            <a:off x="292608" y="2304288"/>
            <a:ext cx="2615184" cy="822960"/>
          </a:xfrm>
          <a:prstGeom prst="rect">
            <a:avLst/>
          </a:prstGeom>
          <a:noFill/>
          <a:ln/>
        </p:spPr>
        <p:txBody>
          <a:bodyPr wrap="square" rtlCol="0" anchor="ctr"/>
          <a:lstStyle/>
          <a:p>
            <a:pPr indent="0" marL="0">
              <a:buNone/>
            </a:pPr>
            <a:r>
              <a:rPr lang="en-US" sz="850" dirty="0">
                <a:solidFill>
                  <a:srgbClr val="141E1E"/>
                </a:solidFill>
              </a:rPr>
              <a:t>Manages the application, approval, and recording of tax exemptions for qualifying taxpayers or transactions. Ensures audit-traceable decisions and supports statutory compliance for exemption schemes.</a:t>
            </a:r>
            <a:endParaRPr lang="en-US" sz="850" dirty="0"/>
          </a:p>
        </p:txBody>
      </p:sp>
      <p:sp>
        <p:nvSpPr>
          <p:cNvPr id="27" name="Text 25"/>
          <p:cNvSpPr/>
          <p:nvPr/>
        </p:nvSpPr>
        <p:spPr>
          <a:xfrm>
            <a:off x="292608" y="3172968"/>
            <a:ext cx="2615184" cy="201168"/>
          </a:xfrm>
          <a:prstGeom prst="rect">
            <a:avLst/>
          </a:prstGeom>
          <a:noFill/>
          <a:ln/>
        </p:spPr>
        <p:txBody>
          <a:bodyPr wrap="square" rtlCol="0" anchor="ctr"/>
          <a:lstStyle/>
          <a:p>
            <a:pPr indent="0" marL="0">
              <a:buNone/>
            </a:pPr>
            <a:r>
              <a:rPr lang="en-US" sz="900" b="1" dirty="0">
                <a:solidFill>
                  <a:srgbClr val="FF6359"/>
                </a:solidFill>
              </a:rPr>
              <a:t>Benefits</a:t>
            </a:r>
            <a:endParaRPr lang="en-US" sz="900" dirty="0"/>
          </a:p>
        </p:txBody>
      </p:sp>
      <p:sp>
        <p:nvSpPr>
          <p:cNvPr id="28" name="Text 26"/>
          <p:cNvSpPr/>
          <p:nvPr/>
        </p:nvSpPr>
        <p:spPr>
          <a:xfrm>
            <a:off x="292608" y="3383280"/>
            <a:ext cx="2615184" cy="822960"/>
          </a:xfrm>
          <a:prstGeom prst="rect">
            <a:avLst/>
          </a:prstGeom>
          <a:noFill/>
          <a:ln/>
        </p:spPr>
        <p:txBody>
          <a:bodyPr wrap="square" rtlCol="0" anchor="ctr"/>
          <a:lstStyle/>
          <a:p>
            <a:pPr marL="342900" indent="-342900">
              <a:buSzPct val="100000"/>
              <a:buChar char="•"/>
            </a:pPr>
            <a:r>
              <a:rPr lang="en-US" sz="800" dirty="0">
                <a:solidFill>
                  <a:srgbClr val="4A5C5A"/>
                </a:solidFill>
              </a:rPr>
              <a:t>Reduces manual exemption handling and processing backlogs</a:t>
            </a:r>
            <a:endParaRPr lang="en-US" sz="800" dirty="0"/>
          </a:p>
          <a:p>
            <a:pPr marL="342900" indent="-342900">
              <a:buSzPct val="100000"/>
              <a:buChar char="•"/>
            </a:pPr>
            <a:r>
              <a:rPr lang="en-US" sz="800" dirty="0">
                <a:solidFill>
                  <a:srgbClr val="4A5C5A"/>
                </a:solidFill>
              </a:rPr>
              <a:t>Audit-ready exemption records reduce compliance risk</a:t>
            </a:r>
            <a:endParaRPr lang="en-US" sz="800" dirty="0"/>
          </a:p>
          <a:p>
            <a:pPr marL="342900" indent="-342900">
              <a:buSzPct val="100000"/>
              <a:buChar char="•"/>
            </a:pPr>
            <a:r>
              <a:rPr lang="en-US" sz="800" dirty="0">
                <a:solidFill>
                  <a:srgbClr val="4A5C5A"/>
                </a:solidFill>
              </a:rPr>
              <a:t>Configurable exemption rules support multiple tax types</a:t>
            </a:r>
            <a:endParaRPr lang="en-US" sz="800" dirty="0"/>
          </a:p>
        </p:txBody>
      </p:sp>
      <p:sp>
        <p:nvSpPr>
          <p:cNvPr id="29" name="Shape 27"/>
          <p:cNvSpPr/>
          <p:nvPr/>
        </p:nvSpPr>
        <p:spPr>
          <a:xfrm>
            <a:off x="292608" y="4261104"/>
            <a:ext cx="2615184" cy="530352"/>
          </a:xfrm>
          <a:prstGeom prst="rect">
            <a:avLst/>
          </a:prstGeom>
          <a:solidFill>
            <a:srgbClr val="EEF3F2"/>
          </a:solidFill>
          <a:ln/>
        </p:spPr>
      </p:sp>
      <p:sp>
        <p:nvSpPr>
          <p:cNvPr id="30" name="Text 28"/>
          <p:cNvSpPr/>
          <p:nvPr/>
        </p:nvSpPr>
        <p:spPr>
          <a:xfrm>
            <a:off x="347472" y="4288536"/>
            <a:ext cx="2505456" cy="475488"/>
          </a:xfrm>
          <a:prstGeom prst="rect">
            <a:avLst/>
          </a:prstGeom>
          <a:noFill/>
          <a:ln/>
        </p:spPr>
        <p:txBody>
          <a:bodyPr wrap="square" rtlCol="0" anchor="ctr"/>
          <a:lstStyle/>
          <a:p>
            <a:pPr indent="0" marL="0">
              <a:buNone/>
            </a:pPr>
            <a:r>
              <a:rPr lang="en-US" sz="800" i="1" dirty="0">
                <a:solidFill>
                  <a:srgbClr val="123836"/>
                </a:solidFill>
              </a:rPr>
              <a:t>Small scope — good candidate for early delivery to demonstrate value to GRC stakeholders in PI28.</a:t>
            </a:r>
            <a:endParaRPr lang="en-US" sz="800" dirty="0"/>
          </a:p>
        </p:txBody>
      </p:sp>
      <p:sp>
        <p:nvSpPr>
          <p:cNvPr id="31" name="Shape 29"/>
          <p:cNvSpPr/>
          <p:nvPr/>
        </p:nvSpPr>
        <p:spPr>
          <a:xfrm>
            <a:off x="3172968" y="1024128"/>
            <a:ext cx="2834640" cy="3858768"/>
          </a:xfrm>
          <a:prstGeom prst="rect">
            <a:avLst/>
          </a:prstGeom>
          <a:solidFill>
            <a:srgbClr val="FFFFFF"/>
          </a:solidFill>
          <a:ln w="12700">
            <a:solidFill>
              <a:srgbClr val="D0D7D7"/>
            </a:solidFill>
            <a:prstDash val="solid"/>
          </a:ln>
          <a:effectLst>
            <a:outerShdw sx="100000" sy="100000" kx="0" ky="0" algn="bl" rotWithShape="0" blurRad="50800" dist="25400" dir="8100000">
              <a:srgbClr val="000000">
                <a:alpha val="12000"/>
              </a:srgbClr>
            </a:outerShdw>
          </a:effectLst>
        </p:spPr>
      </p:sp>
      <p:sp>
        <p:nvSpPr>
          <p:cNvPr id="32" name="Shape 30"/>
          <p:cNvSpPr/>
          <p:nvPr/>
        </p:nvSpPr>
        <p:spPr>
          <a:xfrm>
            <a:off x="3172968" y="1024128"/>
            <a:ext cx="2834640" cy="54864"/>
          </a:xfrm>
          <a:prstGeom prst="rect">
            <a:avLst/>
          </a:prstGeom>
          <a:solidFill>
            <a:srgbClr val="FF6359"/>
          </a:solidFill>
          <a:ln/>
        </p:spPr>
      </p:sp>
      <p:sp>
        <p:nvSpPr>
          <p:cNvPr id="33" name="Text 31"/>
          <p:cNvSpPr/>
          <p:nvPr/>
        </p:nvSpPr>
        <p:spPr>
          <a:xfrm>
            <a:off x="3282696" y="1115568"/>
            <a:ext cx="2615184" cy="320040"/>
          </a:xfrm>
          <a:prstGeom prst="rect">
            <a:avLst/>
          </a:prstGeom>
          <a:noFill/>
          <a:ln/>
        </p:spPr>
        <p:txBody>
          <a:bodyPr wrap="square" rtlCol="0" anchor="ctr"/>
          <a:lstStyle/>
          <a:p>
            <a:pPr indent="0" marL="0">
              <a:buNone/>
            </a:pPr>
            <a:r>
              <a:rPr lang="en-US" sz="1300" b="1" dirty="0">
                <a:solidFill>
                  <a:srgbClr val="123836"/>
                </a:solidFill>
              </a:rPr>
              <a:t>Penalty &amp; Interest</a:t>
            </a:r>
            <a:endParaRPr lang="en-US" sz="1300" dirty="0"/>
          </a:p>
        </p:txBody>
      </p:sp>
      <p:sp>
        <p:nvSpPr>
          <p:cNvPr id="34" name="Shape 32"/>
          <p:cNvSpPr/>
          <p:nvPr/>
        </p:nvSpPr>
        <p:spPr>
          <a:xfrm>
            <a:off x="3236976" y="1481328"/>
            <a:ext cx="640080" cy="548640"/>
          </a:xfrm>
          <a:prstGeom prst="rect">
            <a:avLst/>
          </a:prstGeom>
          <a:solidFill>
            <a:srgbClr val="123836"/>
          </a:solidFill>
          <a:ln/>
        </p:spPr>
      </p:sp>
      <p:sp>
        <p:nvSpPr>
          <p:cNvPr id="35" name="Text 33"/>
          <p:cNvSpPr/>
          <p:nvPr/>
        </p:nvSpPr>
        <p:spPr>
          <a:xfrm>
            <a:off x="3236976" y="1481328"/>
            <a:ext cx="640080" cy="338328"/>
          </a:xfrm>
          <a:prstGeom prst="rect">
            <a:avLst/>
          </a:prstGeom>
          <a:noFill/>
          <a:ln/>
        </p:spPr>
        <p:txBody>
          <a:bodyPr wrap="square" rtlCol="0" anchor="b"/>
          <a:lstStyle/>
          <a:p>
            <a:pPr algn="ctr" indent="0" marL="0">
              <a:buNone/>
            </a:pPr>
            <a:r>
              <a:rPr lang="en-US" sz="750" b="1" dirty="0">
                <a:solidFill>
                  <a:srgbClr val="FFFFFF"/>
                </a:solidFill>
              </a:rPr>
              <a:t>TBD</a:t>
            </a:r>
            <a:endParaRPr lang="en-US" sz="750" dirty="0"/>
          </a:p>
        </p:txBody>
      </p:sp>
      <p:sp>
        <p:nvSpPr>
          <p:cNvPr id="36" name="Text 34"/>
          <p:cNvSpPr/>
          <p:nvPr/>
        </p:nvSpPr>
        <p:spPr>
          <a:xfrm>
            <a:off x="3236976" y="1819656"/>
            <a:ext cx="640080" cy="201168"/>
          </a:xfrm>
          <a:prstGeom prst="rect">
            <a:avLst/>
          </a:prstGeom>
          <a:noFill/>
          <a:ln/>
        </p:spPr>
        <p:txBody>
          <a:bodyPr wrap="square" rtlCol="0" anchor="ctr"/>
          <a:lstStyle/>
          <a:p>
            <a:pPr algn="ctr" indent="0" marL="0">
              <a:buNone/>
            </a:pPr>
            <a:r>
              <a:rPr lang="en-US" sz="650" dirty="0">
                <a:solidFill>
                  <a:srgbClr val="FFD282"/>
                </a:solidFill>
              </a:rPr>
              <a:t>Effort</a:t>
            </a:r>
            <a:endParaRPr lang="en-US" sz="650" dirty="0"/>
          </a:p>
        </p:txBody>
      </p:sp>
      <p:sp>
        <p:nvSpPr>
          <p:cNvPr id="37" name="Shape 35"/>
          <p:cNvSpPr/>
          <p:nvPr/>
        </p:nvSpPr>
        <p:spPr>
          <a:xfrm>
            <a:off x="3931920" y="1481328"/>
            <a:ext cx="640080" cy="548640"/>
          </a:xfrm>
          <a:prstGeom prst="rect">
            <a:avLst/>
          </a:prstGeom>
          <a:solidFill>
            <a:srgbClr val="123836"/>
          </a:solidFill>
          <a:ln/>
        </p:spPr>
      </p:sp>
      <p:sp>
        <p:nvSpPr>
          <p:cNvPr id="38" name="Text 36"/>
          <p:cNvSpPr/>
          <p:nvPr/>
        </p:nvSpPr>
        <p:spPr>
          <a:xfrm>
            <a:off x="3931920" y="1481328"/>
            <a:ext cx="640080" cy="338328"/>
          </a:xfrm>
          <a:prstGeom prst="rect">
            <a:avLst/>
          </a:prstGeom>
          <a:noFill/>
          <a:ln/>
        </p:spPr>
        <p:txBody>
          <a:bodyPr wrap="square" rtlCol="0" anchor="b"/>
          <a:lstStyle/>
          <a:p>
            <a:pPr algn="ctr" indent="0" marL="0">
              <a:buNone/>
            </a:pPr>
            <a:r>
              <a:rPr lang="en-US" sz="750" b="1" dirty="0">
                <a:solidFill>
                  <a:srgbClr val="FFFFFF"/>
                </a:solidFill>
              </a:rPr>
              <a:t>1</a:t>
            </a:r>
            <a:endParaRPr lang="en-US" sz="750" dirty="0"/>
          </a:p>
        </p:txBody>
      </p:sp>
      <p:sp>
        <p:nvSpPr>
          <p:cNvPr id="39" name="Text 37"/>
          <p:cNvSpPr/>
          <p:nvPr/>
        </p:nvSpPr>
        <p:spPr>
          <a:xfrm>
            <a:off x="3931920" y="1819656"/>
            <a:ext cx="640080" cy="201168"/>
          </a:xfrm>
          <a:prstGeom prst="rect">
            <a:avLst/>
          </a:prstGeom>
          <a:noFill/>
          <a:ln/>
        </p:spPr>
        <p:txBody>
          <a:bodyPr wrap="square" rtlCol="0" anchor="ctr"/>
          <a:lstStyle/>
          <a:p>
            <a:pPr algn="ctr" indent="0" marL="0">
              <a:buNone/>
            </a:pPr>
            <a:r>
              <a:rPr lang="en-US" sz="650" dirty="0">
                <a:solidFill>
                  <a:srgbClr val="FFD282"/>
                </a:solidFill>
              </a:rPr>
              <a:t>Features</a:t>
            </a:r>
            <a:endParaRPr lang="en-US" sz="650" dirty="0"/>
          </a:p>
        </p:txBody>
      </p:sp>
      <p:sp>
        <p:nvSpPr>
          <p:cNvPr id="40" name="Shape 38"/>
          <p:cNvSpPr/>
          <p:nvPr/>
        </p:nvSpPr>
        <p:spPr>
          <a:xfrm>
            <a:off x="4626864" y="1481328"/>
            <a:ext cx="640080" cy="548640"/>
          </a:xfrm>
          <a:prstGeom prst="rect">
            <a:avLst/>
          </a:prstGeom>
          <a:solidFill>
            <a:srgbClr val="123836"/>
          </a:solidFill>
          <a:ln/>
        </p:spPr>
      </p:sp>
      <p:sp>
        <p:nvSpPr>
          <p:cNvPr id="41" name="Text 39"/>
          <p:cNvSpPr/>
          <p:nvPr/>
        </p:nvSpPr>
        <p:spPr>
          <a:xfrm>
            <a:off x="4626864" y="1481328"/>
            <a:ext cx="640080" cy="338328"/>
          </a:xfrm>
          <a:prstGeom prst="rect">
            <a:avLst/>
          </a:prstGeom>
          <a:noFill/>
          <a:ln/>
        </p:spPr>
        <p:txBody>
          <a:bodyPr wrap="square" rtlCol="0" anchor="b"/>
          <a:lstStyle/>
          <a:p>
            <a:pPr algn="ctr" indent="0" marL="0">
              <a:buNone/>
            </a:pPr>
            <a:r>
              <a:rPr lang="en-US" sz="750" b="1" dirty="0">
                <a:solidFill>
                  <a:srgbClr val="FFFFFF"/>
                </a:solidFill>
              </a:rPr>
              <a:t>P2</a:t>
            </a:r>
            <a:endParaRPr lang="en-US" sz="750" dirty="0"/>
          </a:p>
        </p:txBody>
      </p:sp>
      <p:sp>
        <p:nvSpPr>
          <p:cNvPr id="42" name="Text 40"/>
          <p:cNvSpPr/>
          <p:nvPr/>
        </p:nvSpPr>
        <p:spPr>
          <a:xfrm>
            <a:off x="4626864" y="1819656"/>
            <a:ext cx="640080" cy="201168"/>
          </a:xfrm>
          <a:prstGeom prst="rect">
            <a:avLst/>
          </a:prstGeom>
          <a:noFill/>
          <a:ln/>
        </p:spPr>
        <p:txBody>
          <a:bodyPr wrap="square" rtlCol="0" anchor="ctr"/>
          <a:lstStyle/>
          <a:p>
            <a:pPr algn="ctr" indent="0" marL="0">
              <a:buNone/>
            </a:pPr>
            <a:r>
              <a:rPr lang="en-US" sz="650" dirty="0">
                <a:solidFill>
                  <a:srgbClr val="FFD282"/>
                </a:solidFill>
              </a:rPr>
              <a:t>Priority</a:t>
            </a:r>
            <a:endParaRPr lang="en-US" sz="650" dirty="0"/>
          </a:p>
        </p:txBody>
      </p:sp>
      <p:sp>
        <p:nvSpPr>
          <p:cNvPr id="43" name="Shape 41"/>
          <p:cNvSpPr/>
          <p:nvPr/>
        </p:nvSpPr>
        <p:spPr>
          <a:xfrm>
            <a:off x="5321808" y="1481328"/>
            <a:ext cx="640080" cy="548640"/>
          </a:xfrm>
          <a:prstGeom prst="rect">
            <a:avLst/>
          </a:prstGeom>
          <a:solidFill>
            <a:srgbClr val="123836"/>
          </a:solidFill>
          <a:ln/>
        </p:spPr>
      </p:sp>
      <p:sp>
        <p:nvSpPr>
          <p:cNvPr id="44" name="Text 42"/>
          <p:cNvSpPr/>
          <p:nvPr/>
        </p:nvSpPr>
        <p:spPr>
          <a:xfrm>
            <a:off x="5321808" y="1481328"/>
            <a:ext cx="640080" cy="338328"/>
          </a:xfrm>
          <a:prstGeom prst="rect">
            <a:avLst/>
          </a:prstGeom>
          <a:noFill/>
          <a:ln/>
        </p:spPr>
        <p:txBody>
          <a:bodyPr wrap="square" rtlCol="0" anchor="b"/>
          <a:lstStyle/>
          <a:p>
            <a:pPr algn="ctr" indent="0" marL="0">
              <a:buNone/>
            </a:pPr>
            <a:r>
              <a:rPr lang="en-US" sz="750" b="1" dirty="0">
                <a:solidFill>
                  <a:srgbClr val="FFFFFF"/>
                </a:solidFill>
              </a:rPr>
              <a:t>PI28–PI29</a:t>
            </a:r>
            <a:endParaRPr lang="en-US" sz="750" dirty="0"/>
          </a:p>
        </p:txBody>
      </p:sp>
      <p:sp>
        <p:nvSpPr>
          <p:cNvPr id="45" name="Text 43"/>
          <p:cNvSpPr/>
          <p:nvPr/>
        </p:nvSpPr>
        <p:spPr>
          <a:xfrm>
            <a:off x="5321808" y="1819656"/>
            <a:ext cx="640080" cy="201168"/>
          </a:xfrm>
          <a:prstGeom prst="rect">
            <a:avLst/>
          </a:prstGeom>
          <a:noFill/>
          <a:ln/>
        </p:spPr>
        <p:txBody>
          <a:bodyPr wrap="square" rtlCol="0" anchor="ctr"/>
          <a:lstStyle/>
          <a:p>
            <a:pPr algn="ctr" indent="0" marL="0">
              <a:buNone/>
            </a:pPr>
            <a:r>
              <a:rPr lang="en-US" sz="650" dirty="0">
                <a:solidFill>
                  <a:srgbClr val="FFD282"/>
                </a:solidFill>
              </a:rPr>
              <a:t>PI</a:t>
            </a:r>
            <a:endParaRPr lang="en-US" sz="650" dirty="0"/>
          </a:p>
        </p:txBody>
      </p:sp>
      <p:sp>
        <p:nvSpPr>
          <p:cNvPr id="46" name="Text 44"/>
          <p:cNvSpPr/>
          <p:nvPr/>
        </p:nvSpPr>
        <p:spPr>
          <a:xfrm>
            <a:off x="3282696" y="2103120"/>
            <a:ext cx="2615184" cy="201168"/>
          </a:xfrm>
          <a:prstGeom prst="rect">
            <a:avLst/>
          </a:prstGeom>
          <a:noFill/>
          <a:ln/>
        </p:spPr>
        <p:txBody>
          <a:bodyPr wrap="square" rtlCol="0" anchor="ctr"/>
          <a:lstStyle/>
          <a:p>
            <a:pPr indent="0" marL="0">
              <a:buNone/>
            </a:pPr>
            <a:r>
              <a:rPr lang="en-US" sz="900" b="1" dirty="0">
                <a:solidFill>
                  <a:srgbClr val="FF6359"/>
                </a:solidFill>
              </a:rPr>
              <a:t>Scope</a:t>
            </a:r>
            <a:endParaRPr lang="en-US" sz="900" dirty="0"/>
          </a:p>
        </p:txBody>
      </p:sp>
      <p:sp>
        <p:nvSpPr>
          <p:cNvPr id="47" name="Text 45"/>
          <p:cNvSpPr/>
          <p:nvPr/>
        </p:nvSpPr>
        <p:spPr>
          <a:xfrm>
            <a:off x="3282696" y="2304288"/>
            <a:ext cx="2615184" cy="822960"/>
          </a:xfrm>
          <a:prstGeom prst="rect">
            <a:avLst/>
          </a:prstGeom>
          <a:noFill/>
          <a:ln/>
        </p:spPr>
        <p:txBody>
          <a:bodyPr wrap="square" rtlCol="0" anchor="ctr"/>
          <a:lstStyle/>
          <a:p>
            <a:pPr indent="0" marL="0">
              <a:buNone/>
            </a:pPr>
            <a:r>
              <a:rPr lang="en-US" sz="850" dirty="0">
                <a:solidFill>
                  <a:srgbClr val="141E1E"/>
                </a:solidFill>
              </a:rPr>
              <a:t>Automates the calculation and application of statutory penalties and interest charges on overdue tax liabilities. Ensures accurate and consistent enforcement of late payment rules across all tax types.</a:t>
            </a:r>
            <a:endParaRPr lang="en-US" sz="850" dirty="0"/>
          </a:p>
        </p:txBody>
      </p:sp>
      <p:sp>
        <p:nvSpPr>
          <p:cNvPr id="48" name="Text 46"/>
          <p:cNvSpPr/>
          <p:nvPr/>
        </p:nvSpPr>
        <p:spPr>
          <a:xfrm>
            <a:off x="3282696" y="3172968"/>
            <a:ext cx="2615184" cy="201168"/>
          </a:xfrm>
          <a:prstGeom prst="rect">
            <a:avLst/>
          </a:prstGeom>
          <a:noFill/>
          <a:ln/>
        </p:spPr>
        <p:txBody>
          <a:bodyPr wrap="square" rtlCol="0" anchor="ctr"/>
          <a:lstStyle/>
          <a:p>
            <a:pPr indent="0" marL="0">
              <a:buNone/>
            </a:pPr>
            <a:r>
              <a:rPr lang="en-US" sz="900" b="1" dirty="0">
                <a:solidFill>
                  <a:srgbClr val="FF6359"/>
                </a:solidFill>
              </a:rPr>
              <a:t>Benefits</a:t>
            </a:r>
            <a:endParaRPr lang="en-US" sz="900" dirty="0"/>
          </a:p>
        </p:txBody>
      </p:sp>
      <p:sp>
        <p:nvSpPr>
          <p:cNvPr id="49" name="Text 47"/>
          <p:cNvSpPr/>
          <p:nvPr/>
        </p:nvSpPr>
        <p:spPr>
          <a:xfrm>
            <a:off x="3282696" y="3383280"/>
            <a:ext cx="2615184" cy="822960"/>
          </a:xfrm>
          <a:prstGeom prst="rect">
            <a:avLst/>
          </a:prstGeom>
          <a:noFill/>
          <a:ln/>
        </p:spPr>
        <p:txBody>
          <a:bodyPr wrap="square" rtlCol="0" anchor="ctr"/>
          <a:lstStyle/>
          <a:p>
            <a:pPr marL="342900" indent="-342900">
              <a:buSzPct val="100000"/>
              <a:buChar char="•"/>
            </a:pPr>
            <a:r>
              <a:rPr lang="en-US" sz="800" dirty="0">
                <a:solidFill>
                  <a:srgbClr val="4A5C5A"/>
                </a:solidFill>
              </a:rPr>
              <a:t>Automated calculations eliminate manual errors and officer inconsistency</a:t>
            </a:r>
            <a:endParaRPr lang="en-US" sz="800" dirty="0"/>
          </a:p>
          <a:p>
            <a:pPr marL="342900" indent="-342900">
              <a:buSzPct val="100000"/>
              <a:buChar char="•"/>
            </a:pPr>
            <a:r>
              <a:rPr lang="en-US" sz="800" dirty="0">
                <a:solidFill>
                  <a:srgbClr val="4A5C5A"/>
                </a:solidFill>
              </a:rPr>
              <a:t>Increases voluntary compliance by ensuring consistent enforcement</a:t>
            </a:r>
            <a:endParaRPr lang="en-US" sz="800" dirty="0"/>
          </a:p>
          <a:p>
            <a:pPr marL="342900" indent="-342900">
              <a:buSzPct val="100000"/>
              <a:buChar char="•"/>
            </a:pPr>
            <a:r>
              <a:rPr lang="en-US" sz="800" dirty="0">
                <a:solidFill>
                  <a:srgbClr val="4A5C5A"/>
                </a:solidFill>
              </a:rPr>
              <a:t>Supports configurable penalty schedules per tax type and jurisdiction</a:t>
            </a:r>
            <a:endParaRPr lang="en-US" sz="800" dirty="0"/>
          </a:p>
        </p:txBody>
      </p:sp>
      <p:sp>
        <p:nvSpPr>
          <p:cNvPr id="50" name="Shape 48"/>
          <p:cNvSpPr/>
          <p:nvPr/>
        </p:nvSpPr>
        <p:spPr>
          <a:xfrm>
            <a:off x="3282696" y="4261104"/>
            <a:ext cx="2615184" cy="530352"/>
          </a:xfrm>
          <a:prstGeom prst="rect">
            <a:avLst/>
          </a:prstGeom>
          <a:solidFill>
            <a:srgbClr val="EEF3F2"/>
          </a:solidFill>
          <a:ln/>
        </p:spPr>
      </p:sp>
      <p:sp>
        <p:nvSpPr>
          <p:cNvPr id="51" name="Text 49"/>
          <p:cNvSpPr/>
          <p:nvPr/>
        </p:nvSpPr>
        <p:spPr>
          <a:xfrm>
            <a:off x="3337560" y="4288536"/>
            <a:ext cx="2505456" cy="475488"/>
          </a:xfrm>
          <a:prstGeom prst="rect">
            <a:avLst/>
          </a:prstGeom>
          <a:noFill/>
          <a:ln/>
        </p:spPr>
        <p:txBody>
          <a:bodyPr wrap="square" rtlCol="0" anchor="ctr"/>
          <a:lstStyle/>
          <a:p>
            <a:pPr indent="0" marL="0">
              <a:buNone/>
            </a:pPr>
            <a:r>
              <a:rPr lang="en-US" sz="800" i="1" dirty="0">
                <a:solidFill>
                  <a:srgbClr val="123836"/>
                </a:solidFill>
              </a:rPr>
              <a:t>Effort not yet estimated — scope clarification required before PI28 planning can be confirmed.</a:t>
            </a:r>
            <a:endParaRPr lang="en-US" sz="800" dirty="0"/>
          </a:p>
        </p:txBody>
      </p:sp>
      <p:sp>
        <p:nvSpPr>
          <p:cNvPr id="52" name="Shape 50"/>
          <p:cNvSpPr/>
          <p:nvPr/>
        </p:nvSpPr>
        <p:spPr>
          <a:xfrm>
            <a:off x="6163056" y="1024128"/>
            <a:ext cx="2834640" cy="3858768"/>
          </a:xfrm>
          <a:prstGeom prst="rect">
            <a:avLst/>
          </a:prstGeom>
          <a:solidFill>
            <a:srgbClr val="FFFFFF"/>
          </a:solidFill>
          <a:ln w="12700">
            <a:solidFill>
              <a:srgbClr val="D0D7D7"/>
            </a:solidFill>
            <a:prstDash val="solid"/>
          </a:ln>
          <a:effectLst>
            <a:outerShdw sx="100000" sy="100000" kx="0" ky="0" algn="bl" rotWithShape="0" blurRad="50800" dist="25400" dir="8100000">
              <a:srgbClr val="000000">
                <a:alpha val="12000"/>
              </a:srgbClr>
            </a:outerShdw>
          </a:effectLst>
        </p:spPr>
      </p:sp>
      <p:sp>
        <p:nvSpPr>
          <p:cNvPr id="53" name="Shape 51"/>
          <p:cNvSpPr/>
          <p:nvPr/>
        </p:nvSpPr>
        <p:spPr>
          <a:xfrm>
            <a:off x="6163056" y="1024128"/>
            <a:ext cx="2834640" cy="54864"/>
          </a:xfrm>
          <a:prstGeom prst="rect">
            <a:avLst/>
          </a:prstGeom>
          <a:solidFill>
            <a:srgbClr val="FF6359"/>
          </a:solidFill>
          <a:ln/>
        </p:spPr>
      </p:sp>
      <p:sp>
        <p:nvSpPr>
          <p:cNvPr id="54" name="Text 52"/>
          <p:cNvSpPr/>
          <p:nvPr/>
        </p:nvSpPr>
        <p:spPr>
          <a:xfrm>
            <a:off x="6272784" y="1115568"/>
            <a:ext cx="2615184" cy="320040"/>
          </a:xfrm>
          <a:prstGeom prst="rect">
            <a:avLst/>
          </a:prstGeom>
          <a:noFill/>
          <a:ln/>
        </p:spPr>
        <p:txBody>
          <a:bodyPr wrap="square" rtlCol="0" anchor="ctr"/>
          <a:lstStyle/>
          <a:p>
            <a:pPr indent="0" marL="0">
              <a:buNone/>
            </a:pPr>
            <a:r>
              <a:rPr lang="en-US" sz="1300" b="1" dirty="0">
                <a:solidFill>
                  <a:srgbClr val="123836"/>
                </a:solidFill>
              </a:rPr>
              <a:t>Tax Accounts</a:t>
            </a:r>
            <a:endParaRPr lang="en-US" sz="1300" dirty="0"/>
          </a:p>
        </p:txBody>
      </p:sp>
      <p:sp>
        <p:nvSpPr>
          <p:cNvPr id="55" name="Shape 53"/>
          <p:cNvSpPr/>
          <p:nvPr/>
        </p:nvSpPr>
        <p:spPr>
          <a:xfrm>
            <a:off x="6227064" y="1481328"/>
            <a:ext cx="640080" cy="548640"/>
          </a:xfrm>
          <a:prstGeom prst="rect">
            <a:avLst/>
          </a:prstGeom>
          <a:solidFill>
            <a:srgbClr val="123836"/>
          </a:solidFill>
          <a:ln/>
        </p:spPr>
      </p:sp>
      <p:sp>
        <p:nvSpPr>
          <p:cNvPr id="56" name="Text 54"/>
          <p:cNvSpPr/>
          <p:nvPr/>
        </p:nvSpPr>
        <p:spPr>
          <a:xfrm>
            <a:off x="6227064" y="1481328"/>
            <a:ext cx="640080" cy="338328"/>
          </a:xfrm>
          <a:prstGeom prst="rect">
            <a:avLst/>
          </a:prstGeom>
          <a:noFill/>
          <a:ln/>
        </p:spPr>
        <p:txBody>
          <a:bodyPr wrap="square" rtlCol="0" anchor="b"/>
          <a:lstStyle/>
          <a:p>
            <a:pPr algn="ctr" indent="0" marL="0">
              <a:buNone/>
            </a:pPr>
            <a:r>
              <a:rPr lang="en-US" sz="750" b="1" dirty="0">
                <a:solidFill>
                  <a:srgbClr val="FFFFFF"/>
                </a:solidFill>
              </a:rPr>
              <a:t>TBD</a:t>
            </a:r>
            <a:endParaRPr lang="en-US" sz="750" dirty="0"/>
          </a:p>
        </p:txBody>
      </p:sp>
      <p:sp>
        <p:nvSpPr>
          <p:cNvPr id="57" name="Text 55"/>
          <p:cNvSpPr/>
          <p:nvPr/>
        </p:nvSpPr>
        <p:spPr>
          <a:xfrm>
            <a:off x="6227064" y="1819656"/>
            <a:ext cx="640080" cy="201168"/>
          </a:xfrm>
          <a:prstGeom prst="rect">
            <a:avLst/>
          </a:prstGeom>
          <a:noFill/>
          <a:ln/>
        </p:spPr>
        <p:txBody>
          <a:bodyPr wrap="square" rtlCol="0" anchor="ctr"/>
          <a:lstStyle/>
          <a:p>
            <a:pPr algn="ctr" indent="0" marL="0">
              <a:buNone/>
            </a:pPr>
            <a:r>
              <a:rPr lang="en-US" sz="650" dirty="0">
                <a:solidFill>
                  <a:srgbClr val="FFD282"/>
                </a:solidFill>
              </a:rPr>
              <a:t>Effort</a:t>
            </a:r>
            <a:endParaRPr lang="en-US" sz="650" dirty="0"/>
          </a:p>
        </p:txBody>
      </p:sp>
      <p:sp>
        <p:nvSpPr>
          <p:cNvPr id="58" name="Shape 56"/>
          <p:cNvSpPr/>
          <p:nvPr/>
        </p:nvSpPr>
        <p:spPr>
          <a:xfrm>
            <a:off x="6922008" y="1481328"/>
            <a:ext cx="640080" cy="548640"/>
          </a:xfrm>
          <a:prstGeom prst="rect">
            <a:avLst/>
          </a:prstGeom>
          <a:solidFill>
            <a:srgbClr val="123836"/>
          </a:solidFill>
          <a:ln/>
        </p:spPr>
      </p:sp>
      <p:sp>
        <p:nvSpPr>
          <p:cNvPr id="59" name="Text 57"/>
          <p:cNvSpPr/>
          <p:nvPr/>
        </p:nvSpPr>
        <p:spPr>
          <a:xfrm>
            <a:off x="6922008" y="1481328"/>
            <a:ext cx="640080" cy="338328"/>
          </a:xfrm>
          <a:prstGeom prst="rect">
            <a:avLst/>
          </a:prstGeom>
          <a:noFill/>
          <a:ln/>
        </p:spPr>
        <p:txBody>
          <a:bodyPr wrap="square" rtlCol="0" anchor="b"/>
          <a:lstStyle/>
          <a:p>
            <a:pPr algn="ctr" indent="0" marL="0">
              <a:buNone/>
            </a:pPr>
            <a:r>
              <a:rPr lang="en-US" sz="750" b="1" dirty="0">
                <a:solidFill>
                  <a:srgbClr val="FFFFFF"/>
                </a:solidFill>
              </a:rPr>
              <a:t>1</a:t>
            </a:r>
            <a:endParaRPr lang="en-US" sz="750" dirty="0"/>
          </a:p>
        </p:txBody>
      </p:sp>
      <p:sp>
        <p:nvSpPr>
          <p:cNvPr id="60" name="Text 58"/>
          <p:cNvSpPr/>
          <p:nvPr/>
        </p:nvSpPr>
        <p:spPr>
          <a:xfrm>
            <a:off x="6922008" y="1819656"/>
            <a:ext cx="640080" cy="201168"/>
          </a:xfrm>
          <a:prstGeom prst="rect">
            <a:avLst/>
          </a:prstGeom>
          <a:noFill/>
          <a:ln/>
        </p:spPr>
        <p:txBody>
          <a:bodyPr wrap="square" rtlCol="0" anchor="ctr"/>
          <a:lstStyle/>
          <a:p>
            <a:pPr algn="ctr" indent="0" marL="0">
              <a:buNone/>
            </a:pPr>
            <a:r>
              <a:rPr lang="en-US" sz="650" dirty="0">
                <a:solidFill>
                  <a:srgbClr val="FFD282"/>
                </a:solidFill>
              </a:rPr>
              <a:t>Features</a:t>
            </a:r>
            <a:endParaRPr lang="en-US" sz="650" dirty="0"/>
          </a:p>
        </p:txBody>
      </p:sp>
      <p:sp>
        <p:nvSpPr>
          <p:cNvPr id="61" name="Shape 59"/>
          <p:cNvSpPr/>
          <p:nvPr/>
        </p:nvSpPr>
        <p:spPr>
          <a:xfrm>
            <a:off x="7616952" y="1481328"/>
            <a:ext cx="640080" cy="548640"/>
          </a:xfrm>
          <a:prstGeom prst="rect">
            <a:avLst/>
          </a:prstGeom>
          <a:solidFill>
            <a:srgbClr val="123836"/>
          </a:solidFill>
          <a:ln/>
        </p:spPr>
      </p:sp>
      <p:sp>
        <p:nvSpPr>
          <p:cNvPr id="62" name="Text 60"/>
          <p:cNvSpPr/>
          <p:nvPr/>
        </p:nvSpPr>
        <p:spPr>
          <a:xfrm>
            <a:off x="7616952" y="1481328"/>
            <a:ext cx="640080" cy="338328"/>
          </a:xfrm>
          <a:prstGeom prst="rect">
            <a:avLst/>
          </a:prstGeom>
          <a:noFill/>
          <a:ln/>
        </p:spPr>
        <p:txBody>
          <a:bodyPr wrap="square" rtlCol="0" anchor="b"/>
          <a:lstStyle/>
          <a:p>
            <a:pPr algn="ctr" indent="0" marL="0">
              <a:buNone/>
            </a:pPr>
            <a:r>
              <a:rPr lang="en-US" sz="750" b="1" dirty="0">
                <a:solidFill>
                  <a:srgbClr val="FFFFFF"/>
                </a:solidFill>
              </a:rPr>
              <a:t>P1</a:t>
            </a:r>
            <a:endParaRPr lang="en-US" sz="750" dirty="0"/>
          </a:p>
        </p:txBody>
      </p:sp>
      <p:sp>
        <p:nvSpPr>
          <p:cNvPr id="63" name="Text 61"/>
          <p:cNvSpPr/>
          <p:nvPr/>
        </p:nvSpPr>
        <p:spPr>
          <a:xfrm>
            <a:off x="7616952" y="1819656"/>
            <a:ext cx="640080" cy="201168"/>
          </a:xfrm>
          <a:prstGeom prst="rect">
            <a:avLst/>
          </a:prstGeom>
          <a:noFill/>
          <a:ln/>
        </p:spPr>
        <p:txBody>
          <a:bodyPr wrap="square" rtlCol="0" anchor="ctr"/>
          <a:lstStyle/>
          <a:p>
            <a:pPr algn="ctr" indent="0" marL="0">
              <a:buNone/>
            </a:pPr>
            <a:r>
              <a:rPr lang="en-US" sz="650" dirty="0">
                <a:solidFill>
                  <a:srgbClr val="FFD282"/>
                </a:solidFill>
              </a:rPr>
              <a:t>Priority</a:t>
            </a:r>
            <a:endParaRPr lang="en-US" sz="650" dirty="0"/>
          </a:p>
        </p:txBody>
      </p:sp>
      <p:sp>
        <p:nvSpPr>
          <p:cNvPr id="64" name="Shape 62"/>
          <p:cNvSpPr/>
          <p:nvPr/>
        </p:nvSpPr>
        <p:spPr>
          <a:xfrm>
            <a:off x="8311896" y="1481328"/>
            <a:ext cx="640080" cy="548640"/>
          </a:xfrm>
          <a:prstGeom prst="rect">
            <a:avLst/>
          </a:prstGeom>
          <a:solidFill>
            <a:srgbClr val="123836"/>
          </a:solidFill>
          <a:ln/>
        </p:spPr>
      </p:sp>
      <p:sp>
        <p:nvSpPr>
          <p:cNvPr id="65" name="Text 63"/>
          <p:cNvSpPr/>
          <p:nvPr/>
        </p:nvSpPr>
        <p:spPr>
          <a:xfrm>
            <a:off x="8311896" y="1481328"/>
            <a:ext cx="640080" cy="338328"/>
          </a:xfrm>
          <a:prstGeom prst="rect">
            <a:avLst/>
          </a:prstGeom>
          <a:noFill/>
          <a:ln/>
        </p:spPr>
        <p:txBody>
          <a:bodyPr wrap="square" rtlCol="0" anchor="b"/>
          <a:lstStyle/>
          <a:p>
            <a:pPr algn="ctr" indent="0" marL="0">
              <a:buNone/>
            </a:pPr>
            <a:r>
              <a:rPr lang="en-US" sz="750" b="1" dirty="0">
                <a:solidFill>
                  <a:srgbClr val="FFFFFF"/>
                </a:solidFill>
              </a:rPr>
              <a:t>PI28–PI29</a:t>
            </a:r>
            <a:endParaRPr lang="en-US" sz="750" dirty="0"/>
          </a:p>
        </p:txBody>
      </p:sp>
      <p:sp>
        <p:nvSpPr>
          <p:cNvPr id="66" name="Text 64"/>
          <p:cNvSpPr/>
          <p:nvPr/>
        </p:nvSpPr>
        <p:spPr>
          <a:xfrm>
            <a:off x="8311896" y="1819656"/>
            <a:ext cx="640080" cy="201168"/>
          </a:xfrm>
          <a:prstGeom prst="rect">
            <a:avLst/>
          </a:prstGeom>
          <a:noFill/>
          <a:ln/>
        </p:spPr>
        <p:txBody>
          <a:bodyPr wrap="square" rtlCol="0" anchor="ctr"/>
          <a:lstStyle/>
          <a:p>
            <a:pPr algn="ctr" indent="0" marL="0">
              <a:buNone/>
            </a:pPr>
            <a:r>
              <a:rPr lang="en-US" sz="650" dirty="0">
                <a:solidFill>
                  <a:srgbClr val="FFD282"/>
                </a:solidFill>
              </a:rPr>
              <a:t>PI</a:t>
            </a:r>
            <a:endParaRPr lang="en-US" sz="650" dirty="0"/>
          </a:p>
        </p:txBody>
      </p:sp>
      <p:sp>
        <p:nvSpPr>
          <p:cNvPr id="67" name="Text 65"/>
          <p:cNvSpPr/>
          <p:nvPr/>
        </p:nvSpPr>
        <p:spPr>
          <a:xfrm>
            <a:off x="6272784" y="2103120"/>
            <a:ext cx="2615184" cy="201168"/>
          </a:xfrm>
          <a:prstGeom prst="rect">
            <a:avLst/>
          </a:prstGeom>
          <a:noFill/>
          <a:ln/>
        </p:spPr>
        <p:txBody>
          <a:bodyPr wrap="square" rtlCol="0" anchor="ctr"/>
          <a:lstStyle/>
          <a:p>
            <a:pPr indent="0" marL="0">
              <a:buNone/>
            </a:pPr>
            <a:r>
              <a:rPr lang="en-US" sz="900" b="1" dirty="0">
                <a:solidFill>
                  <a:srgbClr val="FF6359"/>
                </a:solidFill>
              </a:rPr>
              <a:t>Scope</a:t>
            </a:r>
            <a:endParaRPr lang="en-US" sz="900" dirty="0"/>
          </a:p>
        </p:txBody>
      </p:sp>
      <p:sp>
        <p:nvSpPr>
          <p:cNvPr id="68" name="Text 66"/>
          <p:cNvSpPr/>
          <p:nvPr/>
        </p:nvSpPr>
        <p:spPr>
          <a:xfrm>
            <a:off x="6272784" y="2304288"/>
            <a:ext cx="2615184" cy="822960"/>
          </a:xfrm>
          <a:prstGeom prst="rect">
            <a:avLst/>
          </a:prstGeom>
          <a:noFill/>
          <a:ln/>
        </p:spPr>
        <p:txBody>
          <a:bodyPr wrap="square" rtlCol="0" anchor="ctr"/>
          <a:lstStyle/>
          <a:p>
            <a:pPr indent="0" marL="0">
              <a:buNone/>
            </a:pPr>
            <a:r>
              <a:rPr lang="en-US" sz="850" dirty="0">
                <a:solidFill>
                  <a:srgbClr val="141E1E"/>
                </a:solidFill>
              </a:rPr>
              <a:t>Provides a structured account management layer for individual tax obligations, enabling authorities to track, manage, and report on each taxpayer's account position across multiple tax types and periods.</a:t>
            </a:r>
            <a:endParaRPr lang="en-US" sz="850" dirty="0"/>
          </a:p>
        </p:txBody>
      </p:sp>
      <p:sp>
        <p:nvSpPr>
          <p:cNvPr id="69" name="Text 67"/>
          <p:cNvSpPr/>
          <p:nvPr/>
        </p:nvSpPr>
        <p:spPr>
          <a:xfrm>
            <a:off x="6272784" y="3172968"/>
            <a:ext cx="2615184" cy="201168"/>
          </a:xfrm>
          <a:prstGeom prst="rect">
            <a:avLst/>
          </a:prstGeom>
          <a:noFill/>
          <a:ln/>
        </p:spPr>
        <p:txBody>
          <a:bodyPr wrap="square" rtlCol="0" anchor="ctr"/>
          <a:lstStyle/>
          <a:p>
            <a:pPr indent="0" marL="0">
              <a:buNone/>
            </a:pPr>
            <a:r>
              <a:rPr lang="en-US" sz="900" b="1" dirty="0">
                <a:solidFill>
                  <a:srgbClr val="FF6359"/>
                </a:solidFill>
              </a:rPr>
              <a:t>Benefits</a:t>
            </a:r>
            <a:endParaRPr lang="en-US" sz="900" dirty="0"/>
          </a:p>
        </p:txBody>
      </p:sp>
      <p:sp>
        <p:nvSpPr>
          <p:cNvPr id="70" name="Text 68"/>
          <p:cNvSpPr/>
          <p:nvPr/>
        </p:nvSpPr>
        <p:spPr>
          <a:xfrm>
            <a:off x="6272784" y="3383280"/>
            <a:ext cx="2615184" cy="822960"/>
          </a:xfrm>
          <a:prstGeom prst="rect">
            <a:avLst/>
          </a:prstGeom>
          <a:noFill/>
          <a:ln/>
        </p:spPr>
        <p:txBody>
          <a:bodyPr wrap="square" rtlCol="0" anchor="ctr"/>
          <a:lstStyle/>
          <a:p>
            <a:pPr marL="342900" indent="-342900">
              <a:buSzPct val="100000"/>
              <a:buChar char="•"/>
            </a:pPr>
            <a:r>
              <a:rPr lang="en-US" sz="800" dirty="0">
                <a:solidFill>
                  <a:srgbClr val="4A5C5A"/>
                </a:solidFill>
              </a:rPr>
              <a:t>Unified account view simplifies officer case management and reduces error rates</a:t>
            </a:r>
            <a:endParaRPr lang="en-US" sz="800" dirty="0"/>
          </a:p>
          <a:p>
            <a:pPr marL="342900" indent="-342900">
              <a:buSzPct val="100000"/>
              <a:buChar char="•"/>
            </a:pPr>
            <a:r>
              <a:rPr lang="en-US" sz="800" dirty="0">
                <a:solidFill>
                  <a:srgbClr val="4A5C5A"/>
                </a:solidFill>
              </a:rPr>
              <a:t>Supports multi-period and multi-tax-type account tracking in a single view</a:t>
            </a:r>
            <a:endParaRPr lang="en-US" sz="800" dirty="0"/>
          </a:p>
          <a:p>
            <a:pPr marL="342900" indent="-342900">
              <a:buSzPct val="100000"/>
              <a:buChar char="•"/>
            </a:pPr>
            <a:r>
              <a:rPr lang="en-US" sz="800" dirty="0">
                <a:solidFill>
                  <a:srgbClr val="4A5C5A"/>
                </a:solidFill>
              </a:rPr>
              <a:t>Foundation for advanced debt management and compliance analytics</a:t>
            </a:r>
            <a:endParaRPr lang="en-US" sz="800" dirty="0"/>
          </a:p>
        </p:txBody>
      </p:sp>
      <p:sp>
        <p:nvSpPr>
          <p:cNvPr id="71" name="Shape 69"/>
          <p:cNvSpPr/>
          <p:nvPr/>
        </p:nvSpPr>
        <p:spPr>
          <a:xfrm>
            <a:off x="6272784" y="4261104"/>
            <a:ext cx="2615184" cy="530352"/>
          </a:xfrm>
          <a:prstGeom prst="rect">
            <a:avLst/>
          </a:prstGeom>
          <a:solidFill>
            <a:srgbClr val="EEF3F2"/>
          </a:solidFill>
          <a:ln/>
        </p:spPr>
      </p:sp>
      <p:sp>
        <p:nvSpPr>
          <p:cNvPr id="72" name="Text 70"/>
          <p:cNvSpPr/>
          <p:nvPr/>
        </p:nvSpPr>
        <p:spPr>
          <a:xfrm>
            <a:off x="6327648" y="4288536"/>
            <a:ext cx="2505456" cy="475488"/>
          </a:xfrm>
          <a:prstGeom prst="rect">
            <a:avLst/>
          </a:prstGeom>
          <a:noFill/>
          <a:ln/>
        </p:spPr>
        <p:txBody>
          <a:bodyPr wrap="square" rtlCol="0" anchor="ctr"/>
          <a:lstStyle/>
          <a:p>
            <a:pPr indent="0" marL="0">
              <a:buNone/>
            </a:pPr>
            <a:r>
              <a:rPr lang="en-US" sz="800" i="1" dirty="0">
                <a:solidFill>
                  <a:srgbClr val="123836"/>
                </a:solidFill>
              </a:rPr>
              <a:t>P1 priority but effort TBD — requires immediate scoping to avoid PI28 planning risk.</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3836"/>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F6359"/>
          </a:solidFill>
          <a:ln/>
        </p:spPr>
      </p:sp>
      <p:sp>
        <p:nvSpPr>
          <p:cNvPr id="3" name="Shape 1"/>
          <p:cNvSpPr/>
          <p:nvPr/>
        </p:nvSpPr>
        <p:spPr>
          <a:xfrm>
            <a:off x="0" y="4434840"/>
            <a:ext cx="9144000" cy="708660"/>
          </a:xfrm>
          <a:prstGeom prst="rect">
            <a:avLst/>
          </a:prstGeom>
          <a:solidFill>
            <a:srgbClr val="0A2422"/>
          </a:solidFill>
          <a:ln/>
        </p:spPr>
      </p:sp>
      <p:sp>
        <p:nvSpPr>
          <p:cNvPr id="4" name="Text 2"/>
          <p:cNvSpPr/>
          <p:nvPr/>
        </p:nvSpPr>
        <p:spPr>
          <a:xfrm>
            <a:off x="320040" y="274320"/>
            <a:ext cx="8503920" cy="594360"/>
          </a:xfrm>
          <a:prstGeom prst="rect">
            <a:avLst/>
          </a:prstGeom>
          <a:noFill/>
          <a:ln/>
        </p:spPr>
        <p:txBody>
          <a:bodyPr wrap="square" rtlCol="0" anchor="ctr"/>
          <a:lstStyle/>
          <a:p>
            <a:pPr indent="0" marL="0">
              <a:buNone/>
            </a:pPr>
            <a:r>
              <a:rPr lang="en-US" sz="2800" b="1" dirty="0">
                <a:solidFill>
                  <a:srgbClr val="FFFFFF"/>
                </a:solidFill>
              </a:rPr>
              <a:t>Next Steps &amp; Decision Points</a:t>
            </a:r>
            <a:endParaRPr lang="en-US" sz="2800" dirty="0"/>
          </a:p>
        </p:txBody>
      </p:sp>
      <p:sp>
        <p:nvSpPr>
          <p:cNvPr id="5" name="Text 3"/>
          <p:cNvSpPr/>
          <p:nvPr/>
        </p:nvSpPr>
        <p:spPr>
          <a:xfrm>
            <a:off x="320040" y="868680"/>
            <a:ext cx="8503920" cy="320040"/>
          </a:xfrm>
          <a:prstGeom prst="rect">
            <a:avLst/>
          </a:prstGeom>
          <a:noFill/>
          <a:ln/>
        </p:spPr>
        <p:txBody>
          <a:bodyPr wrap="square" rtlCol="0" anchor="ctr"/>
          <a:lstStyle/>
          <a:p>
            <a:pPr indent="0" marL="0">
              <a:buNone/>
            </a:pPr>
            <a:r>
              <a:rPr lang="en-US" sz="1300" dirty="0">
                <a:solidFill>
                  <a:srgbClr val="73AA87"/>
                </a:solidFill>
              </a:rPr>
              <a:t>Solon Tax Product Roadmap 2026 | SteerCo Session — 29 April 2026</a:t>
            </a:r>
            <a:endParaRPr lang="en-US" sz="1300" dirty="0"/>
          </a:p>
        </p:txBody>
      </p:sp>
      <p:sp>
        <p:nvSpPr>
          <p:cNvPr id="6" name="Shape 4"/>
          <p:cNvSpPr/>
          <p:nvPr/>
        </p:nvSpPr>
        <p:spPr>
          <a:xfrm>
            <a:off x="320040" y="1325880"/>
            <a:ext cx="8503920" cy="658368"/>
          </a:xfrm>
          <a:prstGeom prst="rect">
            <a:avLst/>
          </a:prstGeom>
          <a:solidFill>
            <a:srgbClr val="1B5E52"/>
          </a:solidFill>
          <a:ln/>
        </p:spPr>
      </p:sp>
      <p:sp>
        <p:nvSpPr>
          <p:cNvPr id="7" name="Shape 5"/>
          <p:cNvSpPr/>
          <p:nvPr/>
        </p:nvSpPr>
        <p:spPr>
          <a:xfrm>
            <a:off x="320040" y="1325880"/>
            <a:ext cx="54864" cy="658368"/>
          </a:xfrm>
          <a:prstGeom prst="rect">
            <a:avLst/>
          </a:prstGeom>
          <a:solidFill>
            <a:srgbClr val="FFD282"/>
          </a:solidFill>
          <a:ln/>
        </p:spPr>
      </p:sp>
      <p:sp>
        <p:nvSpPr>
          <p:cNvPr id="8" name="Text 6"/>
          <p:cNvSpPr/>
          <p:nvPr/>
        </p:nvSpPr>
        <p:spPr>
          <a:xfrm>
            <a:off x="411480" y="1399032"/>
            <a:ext cx="365760" cy="457200"/>
          </a:xfrm>
          <a:prstGeom prst="rect">
            <a:avLst/>
          </a:prstGeom>
          <a:noFill/>
          <a:ln/>
        </p:spPr>
        <p:txBody>
          <a:bodyPr wrap="square" rtlCol="0" anchor="ctr"/>
          <a:lstStyle/>
          <a:p>
            <a:pPr indent="0" marL="0">
              <a:buNone/>
            </a:pPr>
            <a:r>
              <a:rPr lang="en-US" sz="1800" b="1" dirty="0">
                <a:solidFill>
                  <a:srgbClr val="FFD282"/>
                </a:solidFill>
              </a:rPr>
              <a:t>01</a:t>
            </a:r>
            <a:endParaRPr lang="en-US" sz="1800" dirty="0"/>
          </a:p>
        </p:txBody>
      </p:sp>
      <p:sp>
        <p:nvSpPr>
          <p:cNvPr id="9" name="Text 7"/>
          <p:cNvSpPr/>
          <p:nvPr/>
        </p:nvSpPr>
        <p:spPr>
          <a:xfrm>
            <a:off x="822960" y="1417320"/>
            <a:ext cx="7772400" cy="256032"/>
          </a:xfrm>
          <a:prstGeom prst="rect">
            <a:avLst/>
          </a:prstGeom>
          <a:noFill/>
          <a:ln/>
        </p:spPr>
        <p:txBody>
          <a:bodyPr wrap="square" rtlCol="0" anchor="ctr"/>
          <a:lstStyle/>
          <a:p>
            <a:pPr indent="0" marL="0">
              <a:buNone/>
            </a:pPr>
            <a:r>
              <a:rPr lang="en-US" sz="1100" b="1" dirty="0">
                <a:solidFill>
                  <a:srgbClr val="FFFFFF"/>
                </a:solidFill>
              </a:rPr>
              <a:t>Confirm PI28 Capacity</a:t>
            </a:r>
            <a:endParaRPr lang="en-US" sz="1100" dirty="0"/>
          </a:p>
        </p:txBody>
      </p:sp>
      <p:sp>
        <p:nvSpPr>
          <p:cNvPr id="10" name="Text 8"/>
          <p:cNvSpPr/>
          <p:nvPr/>
        </p:nvSpPr>
        <p:spPr>
          <a:xfrm>
            <a:off x="822960" y="1691640"/>
            <a:ext cx="7772400" cy="256032"/>
          </a:xfrm>
          <a:prstGeom prst="rect">
            <a:avLst/>
          </a:prstGeom>
          <a:noFill/>
          <a:ln/>
        </p:spPr>
        <p:txBody>
          <a:bodyPr wrap="square" rtlCol="0" anchor="ctr"/>
          <a:lstStyle/>
          <a:p>
            <a:pPr indent="0" marL="0">
              <a:buNone/>
            </a:pPr>
            <a:r>
              <a:rPr lang="en-US" sz="900" dirty="0">
                <a:solidFill>
                  <a:srgbClr val="D0D7D7"/>
                </a:solidFill>
              </a:rPr>
              <a:t>Validate delivery team capacity for Registration, Taxpayer Accounting, and Billing features planned in PI28. Flag any resource constraints to product leadership.</a:t>
            </a:r>
            <a:endParaRPr lang="en-US" sz="900" dirty="0"/>
          </a:p>
        </p:txBody>
      </p:sp>
      <p:sp>
        <p:nvSpPr>
          <p:cNvPr id="11" name="Shape 9"/>
          <p:cNvSpPr/>
          <p:nvPr/>
        </p:nvSpPr>
        <p:spPr>
          <a:xfrm>
            <a:off x="320040" y="2075688"/>
            <a:ext cx="8503920" cy="658368"/>
          </a:xfrm>
          <a:prstGeom prst="rect">
            <a:avLst/>
          </a:prstGeom>
          <a:solidFill>
            <a:srgbClr val="1B5E52"/>
          </a:solidFill>
          <a:ln/>
        </p:spPr>
      </p:sp>
      <p:sp>
        <p:nvSpPr>
          <p:cNvPr id="12" name="Shape 10"/>
          <p:cNvSpPr/>
          <p:nvPr/>
        </p:nvSpPr>
        <p:spPr>
          <a:xfrm>
            <a:off x="320040" y="2075688"/>
            <a:ext cx="54864" cy="658368"/>
          </a:xfrm>
          <a:prstGeom prst="rect">
            <a:avLst/>
          </a:prstGeom>
          <a:solidFill>
            <a:srgbClr val="FFD282"/>
          </a:solidFill>
          <a:ln/>
        </p:spPr>
      </p:sp>
      <p:sp>
        <p:nvSpPr>
          <p:cNvPr id="13" name="Text 11"/>
          <p:cNvSpPr/>
          <p:nvPr/>
        </p:nvSpPr>
        <p:spPr>
          <a:xfrm>
            <a:off x="411480" y="2148840"/>
            <a:ext cx="365760" cy="457200"/>
          </a:xfrm>
          <a:prstGeom prst="rect">
            <a:avLst/>
          </a:prstGeom>
          <a:noFill/>
          <a:ln/>
        </p:spPr>
        <p:txBody>
          <a:bodyPr wrap="square" rtlCol="0" anchor="ctr"/>
          <a:lstStyle/>
          <a:p>
            <a:pPr indent="0" marL="0">
              <a:buNone/>
            </a:pPr>
            <a:r>
              <a:rPr lang="en-US" sz="1800" b="1" dirty="0">
                <a:solidFill>
                  <a:srgbClr val="FFD282"/>
                </a:solidFill>
              </a:rPr>
              <a:t>02</a:t>
            </a:r>
            <a:endParaRPr lang="en-US" sz="1800" dirty="0"/>
          </a:p>
        </p:txBody>
      </p:sp>
      <p:sp>
        <p:nvSpPr>
          <p:cNvPr id="14" name="Text 12"/>
          <p:cNvSpPr/>
          <p:nvPr/>
        </p:nvSpPr>
        <p:spPr>
          <a:xfrm>
            <a:off x="822960" y="2167128"/>
            <a:ext cx="7772400" cy="256032"/>
          </a:xfrm>
          <a:prstGeom prst="rect">
            <a:avLst/>
          </a:prstGeom>
          <a:noFill/>
          <a:ln/>
        </p:spPr>
        <p:txBody>
          <a:bodyPr wrap="square" rtlCol="0" anchor="ctr"/>
          <a:lstStyle/>
          <a:p>
            <a:pPr indent="0" marL="0">
              <a:buNone/>
            </a:pPr>
            <a:r>
              <a:rPr lang="en-US" sz="1100" b="1" dirty="0">
                <a:solidFill>
                  <a:srgbClr val="FFFFFF"/>
                </a:solidFill>
              </a:rPr>
              <a:t>Estimate Penalty &amp; Interest + Tax Accounts</a:t>
            </a:r>
            <a:endParaRPr lang="en-US" sz="1100" dirty="0"/>
          </a:p>
        </p:txBody>
      </p:sp>
      <p:sp>
        <p:nvSpPr>
          <p:cNvPr id="15" name="Text 13"/>
          <p:cNvSpPr/>
          <p:nvPr/>
        </p:nvSpPr>
        <p:spPr>
          <a:xfrm>
            <a:off x="822960" y="2441448"/>
            <a:ext cx="7772400" cy="256032"/>
          </a:xfrm>
          <a:prstGeom prst="rect">
            <a:avLst/>
          </a:prstGeom>
          <a:noFill/>
          <a:ln/>
        </p:spPr>
        <p:txBody>
          <a:bodyPr wrap="square" rtlCol="0" anchor="ctr"/>
          <a:lstStyle/>
          <a:p>
            <a:pPr indent="0" marL="0">
              <a:buNone/>
            </a:pPr>
            <a:r>
              <a:rPr lang="en-US" sz="900" dirty="0">
                <a:solidFill>
                  <a:srgbClr val="D0D7D7"/>
                </a:solidFill>
              </a:rPr>
              <a:t>Both initiatives are P1/P2 with TBD effort estimates. Scope clarification sessions must be scheduled before PI28 planning begins.</a:t>
            </a:r>
            <a:endParaRPr lang="en-US" sz="900" dirty="0"/>
          </a:p>
        </p:txBody>
      </p:sp>
      <p:sp>
        <p:nvSpPr>
          <p:cNvPr id="16" name="Shape 14"/>
          <p:cNvSpPr/>
          <p:nvPr/>
        </p:nvSpPr>
        <p:spPr>
          <a:xfrm>
            <a:off x="320040" y="2825496"/>
            <a:ext cx="8503920" cy="658368"/>
          </a:xfrm>
          <a:prstGeom prst="rect">
            <a:avLst/>
          </a:prstGeom>
          <a:solidFill>
            <a:srgbClr val="1B5E52"/>
          </a:solidFill>
          <a:ln/>
        </p:spPr>
      </p:sp>
      <p:sp>
        <p:nvSpPr>
          <p:cNvPr id="17" name="Shape 15"/>
          <p:cNvSpPr/>
          <p:nvPr/>
        </p:nvSpPr>
        <p:spPr>
          <a:xfrm>
            <a:off x="320040" y="2825496"/>
            <a:ext cx="54864" cy="658368"/>
          </a:xfrm>
          <a:prstGeom prst="rect">
            <a:avLst/>
          </a:prstGeom>
          <a:solidFill>
            <a:srgbClr val="FFD282"/>
          </a:solidFill>
          <a:ln/>
        </p:spPr>
      </p:sp>
      <p:sp>
        <p:nvSpPr>
          <p:cNvPr id="18" name="Text 16"/>
          <p:cNvSpPr/>
          <p:nvPr/>
        </p:nvSpPr>
        <p:spPr>
          <a:xfrm>
            <a:off x="411480" y="2898648"/>
            <a:ext cx="365760" cy="457200"/>
          </a:xfrm>
          <a:prstGeom prst="rect">
            <a:avLst/>
          </a:prstGeom>
          <a:noFill/>
          <a:ln/>
        </p:spPr>
        <p:txBody>
          <a:bodyPr wrap="square" rtlCol="0" anchor="ctr"/>
          <a:lstStyle/>
          <a:p>
            <a:pPr indent="0" marL="0">
              <a:buNone/>
            </a:pPr>
            <a:r>
              <a:rPr lang="en-US" sz="1800" b="1" dirty="0">
                <a:solidFill>
                  <a:srgbClr val="FFD282"/>
                </a:solidFill>
              </a:rPr>
              <a:t>03</a:t>
            </a:r>
            <a:endParaRPr lang="en-US" sz="1800" dirty="0"/>
          </a:p>
        </p:txBody>
      </p:sp>
      <p:sp>
        <p:nvSpPr>
          <p:cNvPr id="19" name="Text 17"/>
          <p:cNvSpPr/>
          <p:nvPr/>
        </p:nvSpPr>
        <p:spPr>
          <a:xfrm>
            <a:off x="822960" y="2916936"/>
            <a:ext cx="7772400" cy="256032"/>
          </a:xfrm>
          <a:prstGeom prst="rect">
            <a:avLst/>
          </a:prstGeom>
          <a:noFill/>
          <a:ln/>
        </p:spPr>
        <p:txBody>
          <a:bodyPr wrap="square" rtlCol="0" anchor="ctr"/>
          <a:lstStyle/>
          <a:p>
            <a:pPr indent="0" marL="0">
              <a:buNone/>
            </a:pPr>
            <a:r>
              <a:rPr lang="en-US" sz="1100" b="1" dirty="0">
                <a:solidFill>
                  <a:srgbClr val="FFFFFF"/>
                </a:solidFill>
              </a:rPr>
              <a:t>Approve PI29 Scope for Registration</a:t>
            </a:r>
            <a:endParaRPr lang="en-US" sz="1100" dirty="0"/>
          </a:p>
        </p:txBody>
      </p:sp>
      <p:sp>
        <p:nvSpPr>
          <p:cNvPr id="20" name="Text 18"/>
          <p:cNvSpPr/>
          <p:nvPr/>
        </p:nvSpPr>
        <p:spPr>
          <a:xfrm>
            <a:off x="822960" y="3191256"/>
            <a:ext cx="7772400" cy="256032"/>
          </a:xfrm>
          <a:prstGeom prst="rect">
            <a:avLst/>
          </a:prstGeom>
          <a:noFill/>
          <a:ln/>
        </p:spPr>
        <p:txBody>
          <a:bodyPr wrap="square" rtlCol="0" anchor="ctr"/>
          <a:lstStyle/>
          <a:p>
            <a:pPr indent="0" marL="0">
              <a:buNone/>
            </a:pPr>
            <a:r>
              <a:rPr lang="en-US" sz="900" dirty="0">
                <a:solidFill>
                  <a:srgbClr val="D0D7D7"/>
                </a:solidFill>
              </a:rPr>
              <a:t>Organisational Hierarchy View feature requires SteerCo alignment on priority and GRC team availability for PI29 delivery confirmation.</a:t>
            </a:r>
            <a:endParaRPr lang="en-US" sz="900" dirty="0"/>
          </a:p>
        </p:txBody>
      </p:sp>
      <p:sp>
        <p:nvSpPr>
          <p:cNvPr id="21" name="Shape 19"/>
          <p:cNvSpPr/>
          <p:nvPr/>
        </p:nvSpPr>
        <p:spPr>
          <a:xfrm>
            <a:off x="320040" y="3575304"/>
            <a:ext cx="8503920" cy="658368"/>
          </a:xfrm>
          <a:prstGeom prst="rect">
            <a:avLst/>
          </a:prstGeom>
          <a:solidFill>
            <a:srgbClr val="1B5E52"/>
          </a:solidFill>
          <a:ln/>
        </p:spPr>
      </p:sp>
      <p:sp>
        <p:nvSpPr>
          <p:cNvPr id="22" name="Shape 20"/>
          <p:cNvSpPr/>
          <p:nvPr/>
        </p:nvSpPr>
        <p:spPr>
          <a:xfrm>
            <a:off x="320040" y="3575304"/>
            <a:ext cx="54864" cy="658368"/>
          </a:xfrm>
          <a:prstGeom prst="rect">
            <a:avLst/>
          </a:prstGeom>
          <a:solidFill>
            <a:srgbClr val="FFD282"/>
          </a:solidFill>
          <a:ln/>
        </p:spPr>
      </p:sp>
      <p:sp>
        <p:nvSpPr>
          <p:cNvPr id="23" name="Text 21"/>
          <p:cNvSpPr/>
          <p:nvPr/>
        </p:nvSpPr>
        <p:spPr>
          <a:xfrm>
            <a:off x="411480" y="3648456"/>
            <a:ext cx="365760" cy="457200"/>
          </a:xfrm>
          <a:prstGeom prst="rect">
            <a:avLst/>
          </a:prstGeom>
          <a:noFill/>
          <a:ln/>
        </p:spPr>
        <p:txBody>
          <a:bodyPr wrap="square" rtlCol="0" anchor="ctr"/>
          <a:lstStyle/>
          <a:p>
            <a:pPr indent="0" marL="0">
              <a:buNone/>
            </a:pPr>
            <a:r>
              <a:rPr lang="en-US" sz="1800" b="1" dirty="0">
                <a:solidFill>
                  <a:srgbClr val="FFD282"/>
                </a:solidFill>
              </a:rPr>
              <a:t>04</a:t>
            </a:r>
            <a:endParaRPr lang="en-US" sz="1800" dirty="0"/>
          </a:p>
        </p:txBody>
      </p:sp>
      <p:sp>
        <p:nvSpPr>
          <p:cNvPr id="24" name="Text 22"/>
          <p:cNvSpPr/>
          <p:nvPr/>
        </p:nvSpPr>
        <p:spPr>
          <a:xfrm>
            <a:off x="822960" y="3666744"/>
            <a:ext cx="7772400" cy="256032"/>
          </a:xfrm>
          <a:prstGeom prst="rect">
            <a:avLst/>
          </a:prstGeom>
          <a:noFill/>
          <a:ln/>
        </p:spPr>
        <p:txBody>
          <a:bodyPr wrap="square" rtlCol="0" anchor="ctr"/>
          <a:lstStyle/>
          <a:p>
            <a:pPr indent="0" marL="0">
              <a:buNone/>
            </a:pPr>
            <a:r>
              <a:rPr lang="en-US" sz="1100" b="1" dirty="0">
                <a:solidFill>
                  <a:srgbClr val="FFFFFF"/>
                </a:solidFill>
              </a:rPr>
              <a:t>Advance Exemptions as Quick Win</a:t>
            </a:r>
            <a:endParaRPr lang="en-US" sz="1100" dirty="0"/>
          </a:p>
        </p:txBody>
      </p:sp>
      <p:sp>
        <p:nvSpPr>
          <p:cNvPr id="25" name="Text 23"/>
          <p:cNvSpPr/>
          <p:nvPr/>
        </p:nvSpPr>
        <p:spPr>
          <a:xfrm>
            <a:off x="822960" y="3941064"/>
            <a:ext cx="7772400" cy="256032"/>
          </a:xfrm>
          <a:prstGeom prst="rect">
            <a:avLst/>
          </a:prstGeom>
          <a:noFill/>
          <a:ln/>
        </p:spPr>
        <p:txBody>
          <a:bodyPr wrap="square" rtlCol="0" anchor="ctr"/>
          <a:lstStyle/>
          <a:p>
            <a:pPr indent="0" marL="0">
              <a:buNone/>
            </a:pPr>
            <a:r>
              <a:rPr lang="en-US" sz="900" dirty="0">
                <a:solidFill>
                  <a:srgbClr val="D0D7D7"/>
                </a:solidFill>
              </a:rPr>
              <a:t>Small scope, P2 initiative with clear value. Recommend advancing delivery to PI28 to demonstrate early value to Greek Project stakeholders.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Solon Tax Product Roadmap 2026 – Feature Catalog</dc:title>
  <dc:subject>PptxGenJS Presentation</dc:subject>
  <dc:creator>Nikolaj</dc:creator>
  <cp:lastModifiedBy>Nikolaj</cp:lastModifiedBy>
  <cp:revision>1</cp:revision>
  <dcterms:created xsi:type="dcterms:W3CDTF">2026-04-08T14:01:13Z</dcterms:created>
  <dcterms:modified xsi:type="dcterms:W3CDTF">2026-04-08T14:01:13Z</dcterms:modified>
</cp:coreProperties>
</file>